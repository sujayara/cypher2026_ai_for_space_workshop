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png&amp;ehk=29QrWi4YS95cz1PRdarlA0qRYOmuUf3zx5xR1kXyT5s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8"/>
  </p:notesMasterIdLst>
  <p:handoutMasterIdLst>
    <p:handoutMasterId r:id="rId29"/>
  </p:handoutMasterIdLst>
  <p:sldIdLst>
    <p:sldId id="315" r:id="rId5"/>
    <p:sldId id="306" r:id="rId6"/>
    <p:sldId id="321" r:id="rId7"/>
    <p:sldId id="328" r:id="rId8"/>
    <p:sldId id="325" r:id="rId9"/>
    <p:sldId id="327" r:id="rId10"/>
    <p:sldId id="326" r:id="rId11"/>
    <p:sldId id="323" r:id="rId12"/>
    <p:sldId id="308" r:id="rId13"/>
    <p:sldId id="331" r:id="rId14"/>
    <p:sldId id="333" r:id="rId15"/>
    <p:sldId id="338" r:id="rId16"/>
    <p:sldId id="339" r:id="rId17"/>
    <p:sldId id="332" r:id="rId18"/>
    <p:sldId id="340" r:id="rId19"/>
    <p:sldId id="336" r:id="rId20"/>
    <p:sldId id="341" r:id="rId21"/>
    <p:sldId id="313" r:id="rId22"/>
    <p:sldId id="345" r:id="rId23"/>
    <p:sldId id="343" r:id="rId24"/>
    <p:sldId id="342" r:id="rId25"/>
    <p:sldId id="311" r:id="rId26"/>
    <p:sldId id="318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F06C94-596D-4AD6-AF33-539FED450CB3}" v="59" dt="2026-10-05T08:32:33.687"/>
  </p1510:revLst>
</p1510:revInfo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51" autoAdjust="0"/>
  </p:normalViewPr>
  <p:slideViewPr>
    <p:cSldViewPr snapToGrid="0">
      <p:cViewPr varScale="1">
        <p:scale>
          <a:sx n="119" d="100"/>
          <a:sy n="119" d="100"/>
        </p:scale>
        <p:origin x="192" y="96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D06C6ED-BDBC-444F-8103-213818881426}" type="doc">
      <dgm:prSet loTypeId="urn:microsoft.com/office/officeart/2005/8/layout/list1" loCatId="list" qsTypeId="urn:microsoft.com/office/officeart/2005/8/quickstyle/simple2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0235E85D-062F-4F69-A7AC-C69C97E788D5}">
      <dgm:prSet/>
      <dgm:spPr/>
      <dgm:t>
        <a:bodyPr/>
        <a:lstStyle/>
        <a:p>
          <a:r>
            <a:rPr lang="en-US" b="1"/>
            <a:t>AI in Space:  Introduction </a:t>
          </a:r>
          <a:endParaRPr lang="en-US"/>
        </a:p>
      </dgm:t>
    </dgm:pt>
    <dgm:pt modelId="{D25E3B16-FA55-42E3-92DA-29870561F167}" type="parTrans" cxnId="{CF97908F-A798-4C80-8440-CCC993EE41B0}">
      <dgm:prSet/>
      <dgm:spPr/>
      <dgm:t>
        <a:bodyPr/>
        <a:lstStyle/>
        <a:p>
          <a:endParaRPr lang="en-US"/>
        </a:p>
      </dgm:t>
    </dgm:pt>
    <dgm:pt modelId="{7D35E38A-F1EB-4596-BAC7-C51C53F29471}" type="sibTrans" cxnId="{CF97908F-A798-4C80-8440-CCC993EE41B0}">
      <dgm:prSet/>
      <dgm:spPr/>
      <dgm:t>
        <a:bodyPr/>
        <a:lstStyle/>
        <a:p>
          <a:endParaRPr lang="en-US"/>
        </a:p>
      </dgm:t>
    </dgm:pt>
    <dgm:pt modelId="{A5E65455-79FE-4A35-AB3F-9E77E6CE6F45}">
      <dgm:prSet/>
      <dgm:spPr/>
      <dgm:t>
        <a:bodyPr/>
        <a:lstStyle/>
        <a:p>
          <a:r>
            <a:rPr lang="en-US" b="1"/>
            <a:t>Satellite Data Manipulation </a:t>
          </a:r>
          <a:endParaRPr lang="en-US"/>
        </a:p>
      </dgm:t>
    </dgm:pt>
    <dgm:pt modelId="{3DC39E3A-937D-49D2-A9D4-0E02EE88B967}" type="parTrans" cxnId="{3A7F5AF3-1D60-4A57-8D90-700F68BB0A2C}">
      <dgm:prSet/>
      <dgm:spPr/>
      <dgm:t>
        <a:bodyPr/>
        <a:lstStyle/>
        <a:p>
          <a:endParaRPr lang="en-US"/>
        </a:p>
      </dgm:t>
    </dgm:pt>
    <dgm:pt modelId="{487F190A-7CFB-4123-B078-FD7C5721DF5C}" type="sibTrans" cxnId="{3A7F5AF3-1D60-4A57-8D90-700F68BB0A2C}">
      <dgm:prSet/>
      <dgm:spPr/>
      <dgm:t>
        <a:bodyPr/>
        <a:lstStyle/>
        <a:p>
          <a:endParaRPr lang="en-US"/>
        </a:p>
      </dgm:t>
    </dgm:pt>
    <dgm:pt modelId="{BA54D84B-A641-416B-AF7C-992D4D7F0E6E}">
      <dgm:prSet/>
      <dgm:spPr/>
      <dgm:t>
        <a:bodyPr/>
        <a:lstStyle/>
        <a:p>
          <a:r>
            <a:rPr lang="en-US" b="1"/>
            <a:t>Spatial Feature Engineering </a:t>
          </a:r>
          <a:endParaRPr lang="en-US"/>
        </a:p>
      </dgm:t>
    </dgm:pt>
    <dgm:pt modelId="{D1DC64CD-5D7B-4CB3-A61D-C366983738BD}" type="parTrans" cxnId="{E6C0231F-EF55-4214-B927-C2C807C83245}">
      <dgm:prSet/>
      <dgm:spPr/>
      <dgm:t>
        <a:bodyPr/>
        <a:lstStyle/>
        <a:p>
          <a:endParaRPr lang="en-US"/>
        </a:p>
      </dgm:t>
    </dgm:pt>
    <dgm:pt modelId="{F93306A1-397A-459E-B469-B6B7AEF97AD8}" type="sibTrans" cxnId="{E6C0231F-EF55-4214-B927-C2C807C83245}">
      <dgm:prSet/>
      <dgm:spPr/>
      <dgm:t>
        <a:bodyPr/>
        <a:lstStyle/>
        <a:p>
          <a:endParaRPr lang="en-US"/>
        </a:p>
      </dgm:t>
    </dgm:pt>
    <dgm:pt modelId="{B11B9247-70BA-4C5F-B8B2-68D09A943703}">
      <dgm:prSet/>
      <dgm:spPr/>
      <dgm:t>
        <a:bodyPr/>
        <a:lstStyle/>
        <a:p>
          <a:r>
            <a:rPr lang="en-US" b="1"/>
            <a:t>GeoAI Foundation Models</a:t>
          </a:r>
          <a:endParaRPr lang="en-US"/>
        </a:p>
      </dgm:t>
    </dgm:pt>
    <dgm:pt modelId="{5F2E2CA6-F2D0-4D08-8762-AF33C7243B28}" type="parTrans" cxnId="{DC3CEF87-785B-4A88-8B35-2DE0D1104E13}">
      <dgm:prSet/>
      <dgm:spPr/>
      <dgm:t>
        <a:bodyPr/>
        <a:lstStyle/>
        <a:p>
          <a:endParaRPr lang="en-US"/>
        </a:p>
      </dgm:t>
    </dgm:pt>
    <dgm:pt modelId="{F7391A98-DF4E-4B33-91DB-563BE3A1AAC8}" type="sibTrans" cxnId="{DC3CEF87-785B-4A88-8B35-2DE0D1104E13}">
      <dgm:prSet/>
      <dgm:spPr/>
      <dgm:t>
        <a:bodyPr/>
        <a:lstStyle/>
        <a:p>
          <a:endParaRPr lang="en-US"/>
        </a:p>
      </dgm:t>
    </dgm:pt>
    <dgm:pt modelId="{91DDC59F-010B-4398-94CE-4F5B734A9097}">
      <dgm:prSet/>
      <dgm:spPr/>
      <dgm:t>
        <a:bodyPr/>
        <a:lstStyle/>
        <a:p>
          <a:r>
            <a:rPr lang="en-US" b="1"/>
            <a:t>Geospatial Application with VLM </a:t>
          </a:r>
          <a:endParaRPr lang="en-US"/>
        </a:p>
      </dgm:t>
    </dgm:pt>
    <dgm:pt modelId="{10116CF2-7C4A-43C5-8A15-B6C3FB5EDE12}" type="parTrans" cxnId="{0EAD21D2-7CF6-41B6-B44F-6E18738EECF6}">
      <dgm:prSet/>
      <dgm:spPr/>
      <dgm:t>
        <a:bodyPr/>
        <a:lstStyle/>
        <a:p>
          <a:endParaRPr lang="en-US"/>
        </a:p>
      </dgm:t>
    </dgm:pt>
    <dgm:pt modelId="{2CEF830B-7D74-472E-8528-37BDDFA1417E}" type="sibTrans" cxnId="{0EAD21D2-7CF6-41B6-B44F-6E18738EECF6}">
      <dgm:prSet/>
      <dgm:spPr/>
      <dgm:t>
        <a:bodyPr/>
        <a:lstStyle/>
        <a:p>
          <a:endParaRPr lang="en-US"/>
        </a:p>
      </dgm:t>
    </dgm:pt>
    <dgm:pt modelId="{BBE8FE81-140E-47C1-ABD4-90B9D0A889D3}" type="pres">
      <dgm:prSet presAssocID="{7D06C6ED-BDBC-444F-8103-213818881426}" presName="linear" presStyleCnt="0">
        <dgm:presLayoutVars>
          <dgm:dir/>
          <dgm:animLvl val="lvl"/>
          <dgm:resizeHandles val="exact"/>
        </dgm:presLayoutVars>
      </dgm:prSet>
      <dgm:spPr/>
    </dgm:pt>
    <dgm:pt modelId="{2D662152-3158-49F1-9369-8C0F0915D852}" type="pres">
      <dgm:prSet presAssocID="{0235E85D-062F-4F69-A7AC-C69C97E788D5}" presName="parentLin" presStyleCnt="0"/>
      <dgm:spPr/>
    </dgm:pt>
    <dgm:pt modelId="{4DB1655F-D3F7-46F3-A9CE-D8E33FFEAAEF}" type="pres">
      <dgm:prSet presAssocID="{0235E85D-062F-4F69-A7AC-C69C97E788D5}" presName="parentLeftMargin" presStyleLbl="node1" presStyleIdx="0" presStyleCnt="5"/>
      <dgm:spPr/>
    </dgm:pt>
    <dgm:pt modelId="{9BF57D6E-72AB-4A60-A78F-B7A3EC0EECBE}" type="pres">
      <dgm:prSet presAssocID="{0235E85D-062F-4F69-A7AC-C69C97E788D5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06C1A8AB-3BD0-4E94-97ED-03290F971CAB}" type="pres">
      <dgm:prSet presAssocID="{0235E85D-062F-4F69-A7AC-C69C97E788D5}" presName="negativeSpace" presStyleCnt="0"/>
      <dgm:spPr/>
    </dgm:pt>
    <dgm:pt modelId="{1CA976F1-D62D-4DBD-BCBC-F4FA78D55EE1}" type="pres">
      <dgm:prSet presAssocID="{0235E85D-062F-4F69-A7AC-C69C97E788D5}" presName="childText" presStyleLbl="conFgAcc1" presStyleIdx="0" presStyleCnt="5">
        <dgm:presLayoutVars>
          <dgm:bulletEnabled val="1"/>
        </dgm:presLayoutVars>
      </dgm:prSet>
      <dgm:spPr/>
    </dgm:pt>
    <dgm:pt modelId="{F65CD33E-7E65-4AB4-9820-DB70884BD852}" type="pres">
      <dgm:prSet presAssocID="{7D35E38A-F1EB-4596-BAC7-C51C53F29471}" presName="spaceBetweenRectangles" presStyleCnt="0"/>
      <dgm:spPr/>
    </dgm:pt>
    <dgm:pt modelId="{0EF125F6-5309-446F-87DD-0CA3FF3D70F3}" type="pres">
      <dgm:prSet presAssocID="{A5E65455-79FE-4A35-AB3F-9E77E6CE6F45}" presName="parentLin" presStyleCnt="0"/>
      <dgm:spPr/>
    </dgm:pt>
    <dgm:pt modelId="{D880E8EF-56C5-4C29-99B7-10E8FD6C483C}" type="pres">
      <dgm:prSet presAssocID="{A5E65455-79FE-4A35-AB3F-9E77E6CE6F45}" presName="parentLeftMargin" presStyleLbl="node1" presStyleIdx="0" presStyleCnt="5"/>
      <dgm:spPr/>
    </dgm:pt>
    <dgm:pt modelId="{841D7A4C-459A-4CBD-B2BB-2B52A99D2141}" type="pres">
      <dgm:prSet presAssocID="{A5E65455-79FE-4A35-AB3F-9E77E6CE6F45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099A75FC-AB74-4C4C-8BE5-1CFFBFA342D7}" type="pres">
      <dgm:prSet presAssocID="{A5E65455-79FE-4A35-AB3F-9E77E6CE6F45}" presName="negativeSpace" presStyleCnt="0"/>
      <dgm:spPr/>
    </dgm:pt>
    <dgm:pt modelId="{C71F0E4B-44E7-45E4-AC4C-55181C566E0E}" type="pres">
      <dgm:prSet presAssocID="{A5E65455-79FE-4A35-AB3F-9E77E6CE6F45}" presName="childText" presStyleLbl="conFgAcc1" presStyleIdx="1" presStyleCnt="5">
        <dgm:presLayoutVars>
          <dgm:bulletEnabled val="1"/>
        </dgm:presLayoutVars>
      </dgm:prSet>
      <dgm:spPr/>
    </dgm:pt>
    <dgm:pt modelId="{1C6DD19A-DEEE-44DF-B251-497C97D14F69}" type="pres">
      <dgm:prSet presAssocID="{487F190A-7CFB-4123-B078-FD7C5721DF5C}" presName="spaceBetweenRectangles" presStyleCnt="0"/>
      <dgm:spPr/>
    </dgm:pt>
    <dgm:pt modelId="{EFDE15FC-0B0E-46C0-884C-96C228118384}" type="pres">
      <dgm:prSet presAssocID="{BA54D84B-A641-416B-AF7C-992D4D7F0E6E}" presName="parentLin" presStyleCnt="0"/>
      <dgm:spPr/>
    </dgm:pt>
    <dgm:pt modelId="{432F52EF-866A-4462-82F3-2B0395C8923F}" type="pres">
      <dgm:prSet presAssocID="{BA54D84B-A641-416B-AF7C-992D4D7F0E6E}" presName="parentLeftMargin" presStyleLbl="node1" presStyleIdx="1" presStyleCnt="5"/>
      <dgm:spPr/>
    </dgm:pt>
    <dgm:pt modelId="{F7BF1837-C16D-479F-9F3F-85B4002B7F14}" type="pres">
      <dgm:prSet presAssocID="{BA54D84B-A641-416B-AF7C-992D4D7F0E6E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4180F655-85C8-456A-AB08-CF8F08654058}" type="pres">
      <dgm:prSet presAssocID="{BA54D84B-A641-416B-AF7C-992D4D7F0E6E}" presName="negativeSpace" presStyleCnt="0"/>
      <dgm:spPr/>
    </dgm:pt>
    <dgm:pt modelId="{CF176232-1506-4189-BF43-53A307843DC3}" type="pres">
      <dgm:prSet presAssocID="{BA54D84B-A641-416B-AF7C-992D4D7F0E6E}" presName="childText" presStyleLbl="conFgAcc1" presStyleIdx="2" presStyleCnt="5">
        <dgm:presLayoutVars>
          <dgm:bulletEnabled val="1"/>
        </dgm:presLayoutVars>
      </dgm:prSet>
      <dgm:spPr/>
    </dgm:pt>
    <dgm:pt modelId="{3F5B61BD-E373-4020-81BB-CA2B8783A0E0}" type="pres">
      <dgm:prSet presAssocID="{F93306A1-397A-459E-B469-B6B7AEF97AD8}" presName="spaceBetweenRectangles" presStyleCnt="0"/>
      <dgm:spPr/>
    </dgm:pt>
    <dgm:pt modelId="{5D99387C-00B2-4712-9F54-FCD93DB43B90}" type="pres">
      <dgm:prSet presAssocID="{B11B9247-70BA-4C5F-B8B2-68D09A943703}" presName="parentLin" presStyleCnt="0"/>
      <dgm:spPr/>
    </dgm:pt>
    <dgm:pt modelId="{C3AECD57-BD71-4FE7-AEF8-2301FD1965F7}" type="pres">
      <dgm:prSet presAssocID="{B11B9247-70BA-4C5F-B8B2-68D09A943703}" presName="parentLeftMargin" presStyleLbl="node1" presStyleIdx="2" presStyleCnt="5"/>
      <dgm:spPr/>
    </dgm:pt>
    <dgm:pt modelId="{9C2A5B8E-8D6C-45CB-AB91-4A89EF25DEF8}" type="pres">
      <dgm:prSet presAssocID="{B11B9247-70BA-4C5F-B8B2-68D09A943703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1F70CB8E-C386-4EDD-8744-6122DF260250}" type="pres">
      <dgm:prSet presAssocID="{B11B9247-70BA-4C5F-B8B2-68D09A943703}" presName="negativeSpace" presStyleCnt="0"/>
      <dgm:spPr/>
    </dgm:pt>
    <dgm:pt modelId="{83327E67-A54C-4949-9619-7C788A48259C}" type="pres">
      <dgm:prSet presAssocID="{B11B9247-70BA-4C5F-B8B2-68D09A943703}" presName="childText" presStyleLbl="conFgAcc1" presStyleIdx="3" presStyleCnt="5">
        <dgm:presLayoutVars>
          <dgm:bulletEnabled val="1"/>
        </dgm:presLayoutVars>
      </dgm:prSet>
      <dgm:spPr/>
    </dgm:pt>
    <dgm:pt modelId="{2A7A9EC0-BEFB-4863-A0DF-F2F36DE3417F}" type="pres">
      <dgm:prSet presAssocID="{F7391A98-DF4E-4B33-91DB-563BE3A1AAC8}" presName="spaceBetweenRectangles" presStyleCnt="0"/>
      <dgm:spPr/>
    </dgm:pt>
    <dgm:pt modelId="{34800CF1-6BBE-4D73-9D57-3E39B61EFD49}" type="pres">
      <dgm:prSet presAssocID="{91DDC59F-010B-4398-94CE-4F5B734A9097}" presName="parentLin" presStyleCnt="0"/>
      <dgm:spPr/>
    </dgm:pt>
    <dgm:pt modelId="{096E47A4-44DB-48D8-B312-4EFF5E3CDFD0}" type="pres">
      <dgm:prSet presAssocID="{91DDC59F-010B-4398-94CE-4F5B734A9097}" presName="parentLeftMargin" presStyleLbl="node1" presStyleIdx="3" presStyleCnt="5"/>
      <dgm:spPr/>
    </dgm:pt>
    <dgm:pt modelId="{82B1BA61-C126-4ABD-89EB-92181BBA5B74}" type="pres">
      <dgm:prSet presAssocID="{91DDC59F-010B-4398-94CE-4F5B734A9097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506EFC13-1FDF-4348-A396-90B0529C45F1}" type="pres">
      <dgm:prSet presAssocID="{91DDC59F-010B-4398-94CE-4F5B734A9097}" presName="negativeSpace" presStyleCnt="0"/>
      <dgm:spPr/>
    </dgm:pt>
    <dgm:pt modelId="{5F772017-74DE-41DA-AF3B-0E5D7BCB3459}" type="pres">
      <dgm:prSet presAssocID="{91DDC59F-010B-4398-94CE-4F5B734A9097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E6C0231F-EF55-4214-B927-C2C807C83245}" srcId="{7D06C6ED-BDBC-444F-8103-213818881426}" destId="{BA54D84B-A641-416B-AF7C-992D4D7F0E6E}" srcOrd="2" destOrd="0" parTransId="{D1DC64CD-5D7B-4CB3-A61D-C366983738BD}" sibTransId="{F93306A1-397A-459E-B469-B6B7AEF97AD8}"/>
    <dgm:cxn modelId="{72791926-CE7E-4CDC-93DB-2F738CBBE0EB}" type="presOf" srcId="{BA54D84B-A641-416B-AF7C-992D4D7F0E6E}" destId="{F7BF1837-C16D-479F-9F3F-85B4002B7F14}" srcOrd="1" destOrd="0" presId="urn:microsoft.com/office/officeart/2005/8/layout/list1"/>
    <dgm:cxn modelId="{CF8AF240-02C9-42A8-8586-ED0DD59DB1CA}" type="presOf" srcId="{0235E85D-062F-4F69-A7AC-C69C97E788D5}" destId="{9BF57D6E-72AB-4A60-A78F-B7A3EC0EECBE}" srcOrd="1" destOrd="0" presId="urn:microsoft.com/office/officeart/2005/8/layout/list1"/>
    <dgm:cxn modelId="{11D9AD5C-884D-4B61-B710-CA4F4FE2EE54}" type="presOf" srcId="{0235E85D-062F-4F69-A7AC-C69C97E788D5}" destId="{4DB1655F-D3F7-46F3-A9CE-D8E33FFEAAEF}" srcOrd="0" destOrd="0" presId="urn:microsoft.com/office/officeart/2005/8/layout/list1"/>
    <dgm:cxn modelId="{8DC7F14D-72F0-4090-AF72-F0D596330376}" type="presOf" srcId="{91DDC59F-010B-4398-94CE-4F5B734A9097}" destId="{82B1BA61-C126-4ABD-89EB-92181BBA5B74}" srcOrd="1" destOrd="0" presId="urn:microsoft.com/office/officeart/2005/8/layout/list1"/>
    <dgm:cxn modelId="{DC3CEF87-785B-4A88-8B35-2DE0D1104E13}" srcId="{7D06C6ED-BDBC-444F-8103-213818881426}" destId="{B11B9247-70BA-4C5F-B8B2-68D09A943703}" srcOrd="3" destOrd="0" parTransId="{5F2E2CA6-F2D0-4D08-8762-AF33C7243B28}" sibTransId="{F7391A98-DF4E-4B33-91DB-563BE3A1AAC8}"/>
    <dgm:cxn modelId="{CF97908F-A798-4C80-8440-CCC993EE41B0}" srcId="{7D06C6ED-BDBC-444F-8103-213818881426}" destId="{0235E85D-062F-4F69-A7AC-C69C97E788D5}" srcOrd="0" destOrd="0" parTransId="{D25E3B16-FA55-42E3-92DA-29870561F167}" sibTransId="{7D35E38A-F1EB-4596-BAC7-C51C53F29471}"/>
    <dgm:cxn modelId="{25910992-76C0-4306-B07B-004AEA91261A}" type="presOf" srcId="{91DDC59F-010B-4398-94CE-4F5B734A9097}" destId="{096E47A4-44DB-48D8-B312-4EFF5E3CDFD0}" srcOrd="0" destOrd="0" presId="urn:microsoft.com/office/officeart/2005/8/layout/list1"/>
    <dgm:cxn modelId="{D3E2849B-01EB-4480-817E-E66FDA781B1D}" type="presOf" srcId="{BA54D84B-A641-416B-AF7C-992D4D7F0E6E}" destId="{432F52EF-866A-4462-82F3-2B0395C8923F}" srcOrd="0" destOrd="0" presId="urn:microsoft.com/office/officeart/2005/8/layout/list1"/>
    <dgm:cxn modelId="{4476B0B2-9627-49EB-9C53-9FCDBB58D7F0}" type="presOf" srcId="{B11B9247-70BA-4C5F-B8B2-68D09A943703}" destId="{C3AECD57-BD71-4FE7-AEF8-2301FD1965F7}" srcOrd="0" destOrd="0" presId="urn:microsoft.com/office/officeart/2005/8/layout/list1"/>
    <dgm:cxn modelId="{5D9BB9B7-AD05-4ABB-BF16-2B105C70EFE8}" type="presOf" srcId="{B11B9247-70BA-4C5F-B8B2-68D09A943703}" destId="{9C2A5B8E-8D6C-45CB-AB91-4A89EF25DEF8}" srcOrd="1" destOrd="0" presId="urn:microsoft.com/office/officeart/2005/8/layout/list1"/>
    <dgm:cxn modelId="{0EAD21D2-7CF6-41B6-B44F-6E18738EECF6}" srcId="{7D06C6ED-BDBC-444F-8103-213818881426}" destId="{91DDC59F-010B-4398-94CE-4F5B734A9097}" srcOrd="4" destOrd="0" parTransId="{10116CF2-7C4A-43C5-8A15-B6C3FB5EDE12}" sibTransId="{2CEF830B-7D74-472E-8528-37BDDFA1417E}"/>
    <dgm:cxn modelId="{B46F27D4-65C8-4FD4-BCB7-54D18860168D}" type="presOf" srcId="{A5E65455-79FE-4A35-AB3F-9E77E6CE6F45}" destId="{841D7A4C-459A-4CBD-B2BB-2B52A99D2141}" srcOrd="1" destOrd="0" presId="urn:microsoft.com/office/officeart/2005/8/layout/list1"/>
    <dgm:cxn modelId="{43B2A2F2-0332-45F8-88D9-E6DAFA9E6156}" type="presOf" srcId="{7D06C6ED-BDBC-444F-8103-213818881426}" destId="{BBE8FE81-140E-47C1-ABD4-90B9D0A889D3}" srcOrd="0" destOrd="0" presId="urn:microsoft.com/office/officeart/2005/8/layout/list1"/>
    <dgm:cxn modelId="{3A7F5AF3-1D60-4A57-8D90-700F68BB0A2C}" srcId="{7D06C6ED-BDBC-444F-8103-213818881426}" destId="{A5E65455-79FE-4A35-AB3F-9E77E6CE6F45}" srcOrd="1" destOrd="0" parTransId="{3DC39E3A-937D-49D2-A9D4-0E02EE88B967}" sibTransId="{487F190A-7CFB-4123-B078-FD7C5721DF5C}"/>
    <dgm:cxn modelId="{C4E004FA-F074-4488-BCFF-45C0D5D04A63}" type="presOf" srcId="{A5E65455-79FE-4A35-AB3F-9E77E6CE6F45}" destId="{D880E8EF-56C5-4C29-99B7-10E8FD6C483C}" srcOrd="0" destOrd="0" presId="urn:microsoft.com/office/officeart/2005/8/layout/list1"/>
    <dgm:cxn modelId="{77B2EF73-AE15-4601-BE5E-4BADC47F1C6A}" type="presParOf" srcId="{BBE8FE81-140E-47C1-ABD4-90B9D0A889D3}" destId="{2D662152-3158-49F1-9369-8C0F0915D852}" srcOrd="0" destOrd="0" presId="urn:microsoft.com/office/officeart/2005/8/layout/list1"/>
    <dgm:cxn modelId="{25B36738-30FE-4414-B5FF-61D734EE5497}" type="presParOf" srcId="{2D662152-3158-49F1-9369-8C0F0915D852}" destId="{4DB1655F-D3F7-46F3-A9CE-D8E33FFEAAEF}" srcOrd="0" destOrd="0" presId="urn:microsoft.com/office/officeart/2005/8/layout/list1"/>
    <dgm:cxn modelId="{D209E86C-3299-4FDD-9EFB-39062880F6A4}" type="presParOf" srcId="{2D662152-3158-49F1-9369-8C0F0915D852}" destId="{9BF57D6E-72AB-4A60-A78F-B7A3EC0EECBE}" srcOrd="1" destOrd="0" presId="urn:microsoft.com/office/officeart/2005/8/layout/list1"/>
    <dgm:cxn modelId="{0BA6066A-8918-4F61-A6C2-FE52A26C7844}" type="presParOf" srcId="{BBE8FE81-140E-47C1-ABD4-90B9D0A889D3}" destId="{06C1A8AB-3BD0-4E94-97ED-03290F971CAB}" srcOrd="1" destOrd="0" presId="urn:microsoft.com/office/officeart/2005/8/layout/list1"/>
    <dgm:cxn modelId="{039ABB41-86E3-4581-B2B5-78A4B3BC0A84}" type="presParOf" srcId="{BBE8FE81-140E-47C1-ABD4-90B9D0A889D3}" destId="{1CA976F1-D62D-4DBD-BCBC-F4FA78D55EE1}" srcOrd="2" destOrd="0" presId="urn:microsoft.com/office/officeart/2005/8/layout/list1"/>
    <dgm:cxn modelId="{90441192-758E-4DEC-BA21-BDC0061E22D1}" type="presParOf" srcId="{BBE8FE81-140E-47C1-ABD4-90B9D0A889D3}" destId="{F65CD33E-7E65-4AB4-9820-DB70884BD852}" srcOrd="3" destOrd="0" presId="urn:microsoft.com/office/officeart/2005/8/layout/list1"/>
    <dgm:cxn modelId="{BA756CEF-A505-4D79-87BA-4D5089620D37}" type="presParOf" srcId="{BBE8FE81-140E-47C1-ABD4-90B9D0A889D3}" destId="{0EF125F6-5309-446F-87DD-0CA3FF3D70F3}" srcOrd="4" destOrd="0" presId="urn:microsoft.com/office/officeart/2005/8/layout/list1"/>
    <dgm:cxn modelId="{90EFDBC6-3F96-45E2-8E72-03254582AEA7}" type="presParOf" srcId="{0EF125F6-5309-446F-87DD-0CA3FF3D70F3}" destId="{D880E8EF-56C5-4C29-99B7-10E8FD6C483C}" srcOrd="0" destOrd="0" presId="urn:microsoft.com/office/officeart/2005/8/layout/list1"/>
    <dgm:cxn modelId="{CD3764EC-FB91-42DD-B1F6-A8E1F092B304}" type="presParOf" srcId="{0EF125F6-5309-446F-87DD-0CA3FF3D70F3}" destId="{841D7A4C-459A-4CBD-B2BB-2B52A99D2141}" srcOrd="1" destOrd="0" presId="urn:microsoft.com/office/officeart/2005/8/layout/list1"/>
    <dgm:cxn modelId="{0AD39F86-21B6-457E-A1B1-47493A32A9D0}" type="presParOf" srcId="{BBE8FE81-140E-47C1-ABD4-90B9D0A889D3}" destId="{099A75FC-AB74-4C4C-8BE5-1CFFBFA342D7}" srcOrd="5" destOrd="0" presId="urn:microsoft.com/office/officeart/2005/8/layout/list1"/>
    <dgm:cxn modelId="{A44D883E-62F1-449A-9A05-684B6C325F01}" type="presParOf" srcId="{BBE8FE81-140E-47C1-ABD4-90B9D0A889D3}" destId="{C71F0E4B-44E7-45E4-AC4C-55181C566E0E}" srcOrd="6" destOrd="0" presId="urn:microsoft.com/office/officeart/2005/8/layout/list1"/>
    <dgm:cxn modelId="{24A39FC9-934C-4C71-AEE3-85E49A248615}" type="presParOf" srcId="{BBE8FE81-140E-47C1-ABD4-90B9D0A889D3}" destId="{1C6DD19A-DEEE-44DF-B251-497C97D14F69}" srcOrd="7" destOrd="0" presId="urn:microsoft.com/office/officeart/2005/8/layout/list1"/>
    <dgm:cxn modelId="{A79F1A50-C9F7-4482-8793-BE75BB997A93}" type="presParOf" srcId="{BBE8FE81-140E-47C1-ABD4-90B9D0A889D3}" destId="{EFDE15FC-0B0E-46C0-884C-96C228118384}" srcOrd="8" destOrd="0" presId="urn:microsoft.com/office/officeart/2005/8/layout/list1"/>
    <dgm:cxn modelId="{8FF84FE9-E783-4562-934E-45B42B20485B}" type="presParOf" srcId="{EFDE15FC-0B0E-46C0-884C-96C228118384}" destId="{432F52EF-866A-4462-82F3-2B0395C8923F}" srcOrd="0" destOrd="0" presId="urn:microsoft.com/office/officeart/2005/8/layout/list1"/>
    <dgm:cxn modelId="{4C12850F-E637-447B-B62B-BC27258861F9}" type="presParOf" srcId="{EFDE15FC-0B0E-46C0-884C-96C228118384}" destId="{F7BF1837-C16D-479F-9F3F-85B4002B7F14}" srcOrd="1" destOrd="0" presId="urn:microsoft.com/office/officeart/2005/8/layout/list1"/>
    <dgm:cxn modelId="{08F13F81-3B54-4F90-81CE-3DDEFCF774E1}" type="presParOf" srcId="{BBE8FE81-140E-47C1-ABD4-90B9D0A889D3}" destId="{4180F655-85C8-456A-AB08-CF8F08654058}" srcOrd="9" destOrd="0" presId="urn:microsoft.com/office/officeart/2005/8/layout/list1"/>
    <dgm:cxn modelId="{70388C57-4E9C-41AE-AD7A-BCEBFF76727A}" type="presParOf" srcId="{BBE8FE81-140E-47C1-ABD4-90B9D0A889D3}" destId="{CF176232-1506-4189-BF43-53A307843DC3}" srcOrd="10" destOrd="0" presId="urn:microsoft.com/office/officeart/2005/8/layout/list1"/>
    <dgm:cxn modelId="{32B5C4C5-7AC9-4017-AE3D-693E5FD1E6EC}" type="presParOf" srcId="{BBE8FE81-140E-47C1-ABD4-90B9D0A889D3}" destId="{3F5B61BD-E373-4020-81BB-CA2B8783A0E0}" srcOrd="11" destOrd="0" presId="urn:microsoft.com/office/officeart/2005/8/layout/list1"/>
    <dgm:cxn modelId="{13949D62-FC35-4F8B-9293-20A0F4EEDAB8}" type="presParOf" srcId="{BBE8FE81-140E-47C1-ABD4-90B9D0A889D3}" destId="{5D99387C-00B2-4712-9F54-FCD93DB43B90}" srcOrd="12" destOrd="0" presId="urn:microsoft.com/office/officeart/2005/8/layout/list1"/>
    <dgm:cxn modelId="{D64D7D40-221D-4A2D-9A3B-29A6DBDD23F3}" type="presParOf" srcId="{5D99387C-00B2-4712-9F54-FCD93DB43B90}" destId="{C3AECD57-BD71-4FE7-AEF8-2301FD1965F7}" srcOrd="0" destOrd="0" presId="urn:microsoft.com/office/officeart/2005/8/layout/list1"/>
    <dgm:cxn modelId="{4BFF9D3E-0969-4D0B-9D03-53CA38D3B858}" type="presParOf" srcId="{5D99387C-00B2-4712-9F54-FCD93DB43B90}" destId="{9C2A5B8E-8D6C-45CB-AB91-4A89EF25DEF8}" srcOrd="1" destOrd="0" presId="urn:microsoft.com/office/officeart/2005/8/layout/list1"/>
    <dgm:cxn modelId="{1D755BB2-BF39-4965-BBFB-15F5D3281854}" type="presParOf" srcId="{BBE8FE81-140E-47C1-ABD4-90B9D0A889D3}" destId="{1F70CB8E-C386-4EDD-8744-6122DF260250}" srcOrd="13" destOrd="0" presId="urn:microsoft.com/office/officeart/2005/8/layout/list1"/>
    <dgm:cxn modelId="{1E757BA5-9DC5-4CED-82A2-EE3287945924}" type="presParOf" srcId="{BBE8FE81-140E-47C1-ABD4-90B9D0A889D3}" destId="{83327E67-A54C-4949-9619-7C788A48259C}" srcOrd="14" destOrd="0" presId="urn:microsoft.com/office/officeart/2005/8/layout/list1"/>
    <dgm:cxn modelId="{7018D196-8A1F-4280-9102-79206D6EA98C}" type="presParOf" srcId="{BBE8FE81-140E-47C1-ABD4-90B9D0A889D3}" destId="{2A7A9EC0-BEFB-4863-A0DF-F2F36DE3417F}" srcOrd="15" destOrd="0" presId="urn:microsoft.com/office/officeart/2005/8/layout/list1"/>
    <dgm:cxn modelId="{7109762E-D8F4-47F8-860D-9DE7F845D0F0}" type="presParOf" srcId="{BBE8FE81-140E-47C1-ABD4-90B9D0A889D3}" destId="{34800CF1-6BBE-4D73-9D57-3E39B61EFD49}" srcOrd="16" destOrd="0" presId="urn:microsoft.com/office/officeart/2005/8/layout/list1"/>
    <dgm:cxn modelId="{A1C08FB6-EB03-416D-8199-3B18F74B4BBC}" type="presParOf" srcId="{34800CF1-6BBE-4D73-9D57-3E39B61EFD49}" destId="{096E47A4-44DB-48D8-B312-4EFF5E3CDFD0}" srcOrd="0" destOrd="0" presId="urn:microsoft.com/office/officeart/2005/8/layout/list1"/>
    <dgm:cxn modelId="{BA106216-E4C5-49E9-8F69-0D80BF3D94CE}" type="presParOf" srcId="{34800CF1-6BBE-4D73-9D57-3E39B61EFD49}" destId="{82B1BA61-C126-4ABD-89EB-92181BBA5B74}" srcOrd="1" destOrd="0" presId="urn:microsoft.com/office/officeart/2005/8/layout/list1"/>
    <dgm:cxn modelId="{A7560C01-16FC-4AA7-B1D6-465BDF80A80F}" type="presParOf" srcId="{BBE8FE81-140E-47C1-ABD4-90B9D0A889D3}" destId="{506EFC13-1FDF-4348-A396-90B0529C45F1}" srcOrd="17" destOrd="0" presId="urn:microsoft.com/office/officeart/2005/8/layout/list1"/>
    <dgm:cxn modelId="{0D391A9D-5E88-43A3-B6D1-80666D389E54}" type="presParOf" srcId="{BBE8FE81-140E-47C1-ABD4-90B9D0A889D3}" destId="{5F772017-74DE-41DA-AF3B-0E5D7BCB3459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A976F1-D62D-4DBD-BCBC-F4FA78D55EE1}">
      <dsp:nvSpPr>
        <dsp:cNvPr id="0" name=""/>
        <dsp:cNvSpPr/>
      </dsp:nvSpPr>
      <dsp:spPr>
        <a:xfrm>
          <a:off x="0" y="321162"/>
          <a:ext cx="6556375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F57D6E-72AB-4A60-A78F-B7A3EC0EECBE}">
      <dsp:nvSpPr>
        <dsp:cNvPr id="0" name=""/>
        <dsp:cNvSpPr/>
      </dsp:nvSpPr>
      <dsp:spPr>
        <a:xfrm>
          <a:off x="327818" y="25962"/>
          <a:ext cx="4589462" cy="5904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3471" tIns="0" rIns="17347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AI in Space:  Introduction </a:t>
          </a:r>
          <a:endParaRPr lang="en-US" sz="2000" kern="1200"/>
        </a:p>
      </dsp:txBody>
      <dsp:txXfrm>
        <a:off x="356639" y="54783"/>
        <a:ext cx="4531820" cy="532758"/>
      </dsp:txXfrm>
    </dsp:sp>
    <dsp:sp modelId="{C71F0E4B-44E7-45E4-AC4C-55181C566E0E}">
      <dsp:nvSpPr>
        <dsp:cNvPr id="0" name=""/>
        <dsp:cNvSpPr/>
      </dsp:nvSpPr>
      <dsp:spPr>
        <a:xfrm>
          <a:off x="0" y="1228362"/>
          <a:ext cx="6556375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1D7A4C-459A-4CBD-B2BB-2B52A99D2141}">
      <dsp:nvSpPr>
        <dsp:cNvPr id="0" name=""/>
        <dsp:cNvSpPr/>
      </dsp:nvSpPr>
      <dsp:spPr>
        <a:xfrm>
          <a:off x="327818" y="933162"/>
          <a:ext cx="4589462" cy="5904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3471" tIns="0" rIns="17347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Satellite Data Manipulation </a:t>
          </a:r>
          <a:endParaRPr lang="en-US" sz="2000" kern="1200"/>
        </a:p>
      </dsp:txBody>
      <dsp:txXfrm>
        <a:off x="356639" y="961983"/>
        <a:ext cx="4531820" cy="532758"/>
      </dsp:txXfrm>
    </dsp:sp>
    <dsp:sp modelId="{CF176232-1506-4189-BF43-53A307843DC3}">
      <dsp:nvSpPr>
        <dsp:cNvPr id="0" name=""/>
        <dsp:cNvSpPr/>
      </dsp:nvSpPr>
      <dsp:spPr>
        <a:xfrm>
          <a:off x="0" y="2135562"/>
          <a:ext cx="6556375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BF1837-C16D-479F-9F3F-85B4002B7F14}">
      <dsp:nvSpPr>
        <dsp:cNvPr id="0" name=""/>
        <dsp:cNvSpPr/>
      </dsp:nvSpPr>
      <dsp:spPr>
        <a:xfrm>
          <a:off x="327818" y="1840362"/>
          <a:ext cx="4589462" cy="5904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3471" tIns="0" rIns="17347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Spatial Feature Engineering </a:t>
          </a:r>
          <a:endParaRPr lang="en-US" sz="2000" kern="1200"/>
        </a:p>
      </dsp:txBody>
      <dsp:txXfrm>
        <a:off x="356639" y="1869183"/>
        <a:ext cx="4531820" cy="532758"/>
      </dsp:txXfrm>
    </dsp:sp>
    <dsp:sp modelId="{83327E67-A54C-4949-9619-7C788A48259C}">
      <dsp:nvSpPr>
        <dsp:cNvPr id="0" name=""/>
        <dsp:cNvSpPr/>
      </dsp:nvSpPr>
      <dsp:spPr>
        <a:xfrm>
          <a:off x="0" y="3042762"/>
          <a:ext cx="6556375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2A5B8E-8D6C-45CB-AB91-4A89EF25DEF8}">
      <dsp:nvSpPr>
        <dsp:cNvPr id="0" name=""/>
        <dsp:cNvSpPr/>
      </dsp:nvSpPr>
      <dsp:spPr>
        <a:xfrm>
          <a:off x="327818" y="2747562"/>
          <a:ext cx="4589462" cy="5904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3471" tIns="0" rIns="17347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GeoAI Foundation Models</a:t>
          </a:r>
          <a:endParaRPr lang="en-US" sz="2000" kern="1200"/>
        </a:p>
      </dsp:txBody>
      <dsp:txXfrm>
        <a:off x="356639" y="2776383"/>
        <a:ext cx="4531820" cy="532758"/>
      </dsp:txXfrm>
    </dsp:sp>
    <dsp:sp modelId="{5F772017-74DE-41DA-AF3B-0E5D7BCB3459}">
      <dsp:nvSpPr>
        <dsp:cNvPr id="0" name=""/>
        <dsp:cNvSpPr/>
      </dsp:nvSpPr>
      <dsp:spPr>
        <a:xfrm>
          <a:off x="0" y="3949962"/>
          <a:ext cx="6556375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B1BA61-C126-4ABD-89EB-92181BBA5B74}">
      <dsp:nvSpPr>
        <dsp:cNvPr id="0" name=""/>
        <dsp:cNvSpPr/>
      </dsp:nvSpPr>
      <dsp:spPr>
        <a:xfrm>
          <a:off x="327818" y="3654762"/>
          <a:ext cx="4589462" cy="5904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3471" tIns="0" rIns="17347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Geospatial Application with VLM </a:t>
          </a:r>
          <a:endParaRPr lang="en-US" sz="2000" kern="1200"/>
        </a:p>
      </dsp:txBody>
      <dsp:txXfrm>
        <a:off x="356639" y="3683583"/>
        <a:ext cx="4531820" cy="5327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10/5/2026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10/5/2026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1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11240" y="2231136"/>
            <a:ext cx="6080760" cy="4626864"/>
          </a:xfr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6931152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E18B122A-848F-E50E-C503-3930933A5C6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8908"/>
          <a:stretch/>
        </p:blipFill>
        <p:spPr>
          <a:xfrm>
            <a:off x="8401354" y="0"/>
            <a:ext cx="3790646" cy="685799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8CD9875-E4AF-D7EA-9F8B-D27F2C3104A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513E8A3-5E78-5821-6B7B-AF6343ACA73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256415C-5388-7D35-1C15-8DA4ACDCA1F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8B78E2E7-B83A-F17C-9869-FED59DD512E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616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2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321C850-160D-5CD7-B829-ADE752EA7AB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/>
          <a:stretch/>
        </p:blipFill>
        <p:spPr>
          <a:xfrm>
            <a:off x="6096000" y="0"/>
            <a:ext cx="6096000" cy="6857999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3105707-8D59-D00C-596A-380479D0E0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DC4FC4F-BE00-1554-FEBD-DE21F3AB35B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0A310F08-0B34-7E1C-7605-4F81502355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3371AFC-6FAC-3C10-CCC0-ECE8DB9E997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024" cy="2679192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462272"/>
            <a:ext cx="12188952" cy="239572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803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0F0E0D3-11E9-A85D-821D-49C27B06B06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433D848-BBB0-8852-CBA7-96FB04BFADE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556"/>
          <a:stretch/>
        </p:blipFill>
        <p:spPr>
          <a:xfrm>
            <a:off x="10687351" y="4584700"/>
            <a:ext cx="1504649" cy="11303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A0A5B28-1267-FF8C-DD34-4AE0CE17FD9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2FE7896-D379-408C-54BB-757C71F0DEF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49515" r="34180"/>
          <a:stretch/>
        </p:blipFill>
        <p:spPr>
          <a:xfrm>
            <a:off x="10687351" y="1141376"/>
            <a:ext cx="1504649" cy="11540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7E02B10-F9DF-509C-64D5-91DEB698817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455" y="1536826"/>
            <a:ext cx="5650992" cy="557784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2267712"/>
            <a:ext cx="5650992" cy="376732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375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DCE1CF12-4201-C23B-7B9A-02EB4F8A79C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396"/>
          <a:stretch/>
        </p:blipFill>
        <p:spPr>
          <a:xfrm>
            <a:off x="0" y="5731980"/>
            <a:ext cx="12192000" cy="113872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513CE0C7-867A-80BB-9E96-3008375B7EE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68854" b="83396"/>
          <a:stretch/>
        </p:blipFill>
        <p:spPr>
          <a:xfrm>
            <a:off x="0" y="12700"/>
            <a:ext cx="3797300" cy="113872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6CB758-B1DB-F2E0-00E7-BF5660C5F25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598" b="49858"/>
          <a:stretch/>
        </p:blipFill>
        <p:spPr>
          <a:xfrm>
            <a:off x="0" y="9452"/>
            <a:ext cx="1517954" cy="11462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024" y="841248"/>
            <a:ext cx="6556248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A780F1E2-F795-D408-7361-9B32EA12F8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836676"/>
            <a:ext cx="3785616" cy="518464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64023" y="1536827"/>
            <a:ext cx="6556247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05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740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342900" indent="-342900">
              <a:lnSpc>
                <a:spcPct val="90000"/>
              </a:lnSpc>
              <a:spcAft>
                <a:spcPts val="1800"/>
              </a:spcAft>
              <a:buSzPct val="100000"/>
              <a:buFont typeface="Arial" panose="020B0604020202020204" pitchFamily="34" charset="0"/>
              <a:buChar char="•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7448" y="1536827"/>
            <a:ext cx="6592824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FD831DA-EDBD-A492-3E6D-6ABBF4438FC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7659" b="83148"/>
          <a:stretch/>
        </p:blipFill>
        <p:spPr>
          <a:xfrm>
            <a:off x="10687350" y="12700"/>
            <a:ext cx="1504649" cy="11557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0071AEB-E268-A464-7197-69FA762C3C5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444"/>
          <a:stretch/>
        </p:blipFill>
        <p:spPr>
          <a:xfrm>
            <a:off x="10687351" y="9452"/>
            <a:ext cx="1504649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87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C5788EE-4EDA-20FA-8EB9-2F0639E8A2B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D053CA0-7A9F-FC49-AD3F-F3280344D76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67F6939-7B7E-F49F-8219-DC8CDAC85D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FACCA700-291A-CD50-0CF3-749300C8D7A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EFADD4D-8EF2-3DF8-F5F4-9459752D546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5B36F67-81DA-36AC-5D17-0172FF5A70C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1248" y="1527048"/>
            <a:ext cx="10479024" cy="4498848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463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3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2952" y="0"/>
            <a:ext cx="6099048" cy="687628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4" name="Title 123">
            <a:extLst>
              <a:ext uri="{FF2B5EF4-FFF2-40B4-BE49-F238E27FC236}">
                <a16:creationId xmlns:a16="http://schemas.microsoft.com/office/drawing/2014/main" id="{5EF8E4BF-2FB4-FFDD-E565-805C4762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4" y="832104"/>
            <a:ext cx="6099048" cy="5219236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3" name="Text Placeholder 122">
            <a:extLst>
              <a:ext uri="{FF2B5EF4-FFF2-40B4-BE49-F238E27FC236}">
                <a16:creationId xmlns:a16="http://schemas.microsoft.com/office/drawing/2014/main" id="{25C59923-6546-AB3B-534C-22113CD9D67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1353" y="-1"/>
            <a:ext cx="3790650" cy="1155691"/>
          </a:xfrm>
          <a:custGeom>
            <a:avLst/>
            <a:gdLst>
              <a:gd name="connsiteX0" fmla="*/ 2293575 w 3790650"/>
              <a:gd name="connsiteY0" fmla="*/ 0 h 1155691"/>
              <a:gd name="connsiteX1" fmla="*/ 3790650 w 3790650"/>
              <a:gd name="connsiteY1" fmla="*/ 0 h 1155691"/>
              <a:gd name="connsiteX2" fmla="*/ 3790650 w 3790650"/>
              <a:gd name="connsiteY2" fmla="*/ 1098632 h 1155691"/>
              <a:gd name="connsiteX3" fmla="*/ 3775153 w 3790650"/>
              <a:gd name="connsiteY3" fmla="*/ 1104304 h 1155691"/>
              <a:gd name="connsiteX4" fmla="*/ 3435268 w 3790650"/>
              <a:gd name="connsiteY4" fmla="*/ 1155691 h 1155691"/>
              <a:gd name="connsiteX5" fmla="*/ 2292295 w 3790650"/>
              <a:gd name="connsiteY5" fmla="*/ 12701 h 1155691"/>
              <a:gd name="connsiteX6" fmla="*/ 1280 w 3790650"/>
              <a:gd name="connsiteY6" fmla="*/ 0 h 1155691"/>
              <a:gd name="connsiteX7" fmla="*/ 2284665 w 3790650"/>
              <a:gd name="connsiteY7" fmla="*/ 0 h 1155691"/>
              <a:gd name="connsiteX8" fmla="*/ 2285945 w 3790650"/>
              <a:gd name="connsiteY8" fmla="*/ 12701 h 1155691"/>
              <a:gd name="connsiteX9" fmla="*/ 1142973 w 3790650"/>
              <a:gd name="connsiteY9" fmla="*/ 1155691 h 1155691"/>
              <a:gd name="connsiteX10" fmla="*/ 0 w 3790650"/>
              <a:gd name="connsiteY10" fmla="*/ 12701 h 1155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90650" h="1155691">
                <a:moveTo>
                  <a:pt x="2293575" y="0"/>
                </a:moveTo>
                <a:lnTo>
                  <a:pt x="3790650" y="0"/>
                </a:lnTo>
                <a:lnTo>
                  <a:pt x="3790650" y="1098632"/>
                </a:lnTo>
                <a:lnTo>
                  <a:pt x="3775153" y="1104304"/>
                </a:lnTo>
                <a:cubicBezTo>
                  <a:pt x="3667783" y="1137700"/>
                  <a:pt x="3553627" y="1155691"/>
                  <a:pt x="3435268" y="1155691"/>
                </a:cubicBezTo>
                <a:cubicBezTo>
                  <a:pt x="2804021" y="1155691"/>
                  <a:pt x="2292295" y="643957"/>
                  <a:pt x="2292295" y="12701"/>
                </a:cubicBezTo>
                <a:close/>
                <a:moveTo>
                  <a:pt x="1280" y="0"/>
                </a:moveTo>
                <a:lnTo>
                  <a:pt x="2284665" y="0"/>
                </a:lnTo>
                <a:lnTo>
                  <a:pt x="2285945" y="12701"/>
                </a:lnTo>
                <a:cubicBezTo>
                  <a:pt x="2285945" y="643957"/>
                  <a:pt x="1774219" y="1155691"/>
                  <a:pt x="1142973" y="1155691"/>
                </a:cubicBezTo>
                <a:cubicBezTo>
                  <a:pt x="511726" y="1155691"/>
                  <a:pt x="0" y="643957"/>
                  <a:pt x="0" y="12701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80C9A0C-95B8-C535-9B78-63FDB782BE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-3" y="5727700"/>
            <a:ext cx="12192003" cy="1130300"/>
          </a:xfrm>
          <a:custGeom>
            <a:avLst/>
            <a:gdLst>
              <a:gd name="connsiteX0" fmla="*/ 11823828 w 12192003"/>
              <a:gd name="connsiteY0" fmla="*/ 0 h 1130300"/>
              <a:gd name="connsiteX1" fmla="*/ 12163721 w 12192003"/>
              <a:gd name="connsiteY1" fmla="*/ 51387 h 1130300"/>
              <a:gd name="connsiteX2" fmla="*/ 12192003 w 12192003"/>
              <a:gd name="connsiteY2" fmla="*/ 61738 h 1130300"/>
              <a:gd name="connsiteX3" fmla="*/ 12192003 w 12192003"/>
              <a:gd name="connsiteY3" fmla="*/ 1130300 h 1130300"/>
              <a:gd name="connsiteX4" fmla="*/ 10681469 w 12192003"/>
              <a:gd name="connsiteY4" fmla="*/ 1130300 h 1130300"/>
              <a:gd name="connsiteX5" fmla="*/ 10686729 w 12192003"/>
              <a:gd name="connsiteY5" fmla="*/ 1026126 h 1130300"/>
              <a:gd name="connsiteX6" fmla="*/ 11823828 w 12192003"/>
              <a:gd name="connsiteY6" fmla="*/ 0 h 1130300"/>
              <a:gd name="connsiteX7" fmla="*/ 9531478 w 12192003"/>
              <a:gd name="connsiteY7" fmla="*/ 0 h 1130300"/>
              <a:gd name="connsiteX8" fmla="*/ 10668577 w 12192003"/>
              <a:gd name="connsiteY8" fmla="*/ 1026126 h 1130300"/>
              <a:gd name="connsiteX9" fmla="*/ 10673837 w 12192003"/>
              <a:gd name="connsiteY9" fmla="*/ 1130300 h 1130300"/>
              <a:gd name="connsiteX10" fmla="*/ 8389119 w 12192003"/>
              <a:gd name="connsiteY10" fmla="*/ 1130300 h 1130300"/>
              <a:gd name="connsiteX11" fmla="*/ 8394379 w 12192003"/>
              <a:gd name="connsiteY11" fmla="*/ 1026126 h 1130300"/>
              <a:gd name="connsiteX12" fmla="*/ 9531478 w 12192003"/>
              <a:gd name="connsiteY12" fmla="*/ 0 h 1130300"/>
              <a:gd name="connsiteX13" fmla="*/ 7239129 w 12192003"/>
              <a:gd name="connsiteY13" fmla="*/ 0 h 1130300"/>
              <a:gd name="connsiteX14" fmla="*/ 8376227 w 12192003"/>
              <a:gd name="connsiteY14" fmla="*/ 1026126 h 1130300"/>
              <a:gd name="connsiteX15" fmla="*/ 8381487 w 12192003"/>
              <a:gd name="connsiteY15" fmla="*/ 1130300 h 1130300"/>
              <a:gd name="connsiteX16" fmla="*/ 6096769 w 12192003"/>
              <a:gd name="connsiteY16" fmla="*/ 1130300 h 1130300"/>
              <a:gd name="connsiteX17" fmla="*/ 6102029 w 12192003"/>
              <a:gd name="connsiteY17" fmla="*/ 1026126 h 1130300"/>
              <a:gd name="connsiteX18" fmla="*/ 7239129 w 12192003"/>
              <a:gd name="connsiteY18" fmla="*/ 0 h 1130300"/>
              <a:gd name="connsiteX19" fmla="*/ 4946780 w 12192003"/>
              <a:gd name="connsiteY19" fmla="*/ 0 h 1130300"/>
              <a:gd name="connsiteX20" fmla="*/ 6083878 w 12192003"/>
              <a:gd name="connsiteY20" fmla="*/ 1026126 h 1130300"/>
              <a:gd name="connsiteX21" fmla="*/ 6089139 w 12192003"/>
              <a:gd name="connsiteY21" fmla="*/ 1130300 h 1130300"/>
              <a:gd name="connsiteX22" fmla="*/ 3804423 w 12192003"/>
              <a:gd name="connsiteY22" fmla="*/ 1130300 h 1130300"/>
              <a:gd name="connsiteX23" fmla="*/ 3809684 w 12192003"/>
              <a:gd name="connsiteY23" fmla="*/ 1026126 h 1130300"/>
              <a:gd name="connsiteX24" fmla="*/ 4946780 w 12192003"/>
              <a:gd name="connsiteY24" fmla="*/ 0 h 1130300"/>
              <a:gd name="connsiteX25" fmla="*/ 2654431 w 12192003"/>
              <a:gd name="connsiteY25" fmla="*/ 0 h 1130300"/>
              <a:gd name="connsiteX26" fmla="*/ 3791530 w 12192003"/>
              <a:gd name="connsiteY26" fmla="*/ 1026126 h 1130300"/>
              <a:gd name="connsiteX27" fmla="*/ 3796791 w 12192003"/>
              <a:gd name="connsiteY27" fmla="*/ 1130300 h 1130300"/>
              <a:gd name="connsiteX28" fmla="*/ 1512072 w 12192003"/>
              <a:gd name="connsiteY28" fmla="*/ 1130300 h 1130300"/>
              <a:gd name="connsiteX29" fmla="*/ 1517332 w 12192003"/>
              <a:gd name="connsiteY29" fmla="*/ 1026126 h 1130300"/>
              <a:gd name="connsiteX30" fmla="*/ 2654431 w 12192003"/>
              <a:gd name="connsiteY30" fmla="*/ 0 h 1130300"/>
              <a:gd name="connsiteX31" fmla="*/ 362080 w 12192003"/>
              <a:gd name="connsiteY31" fmla="*/ 0 h 1130300"/>
              <a:gd name="connsiteX32" fmla="*/ 1499179 w 12192003"/>
              <a:gd name="connsiteY32" fmla="*/ 1026126 h 1130300"/>
              <a:gd name="connsiteX33" fmla="*/ 1504439 w 12192003"/>
              <a:gd name="connsiteY33" fmla="*/ 1130300 h 1130300"/>
              <a:gd name="connsiteX34" fmla="*/ 0 w 12192003"/>
              <a:gd name="connsiteY34" fmla="*/ 1130300 h 1130300"/>
              <a:gd name="connsiteX35" fmla="*/ 0 w 12192003"/>
              <a:gd name="connsiteY35" fmla="*/ 59507 h 1130300"/>
              <a:gd name="connsiteX36" fmla="*/ 22187 w 12192003"/>
              <a:gd name="connsiteY36" fmla="*/ 51387 h 1130300"/>
              <a:gd name="connsiteX37" fmla="*/ 362080 w 12192003"/>
              <a:gd name="connsiteY37" fmla="*/ 0 h 113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192003" h="1130300">
                <a:moveTo>
                  <a:pt x="11823828" y="0"/>
                </a:moveTo>
                <a:cubicBezTo>
                  <a:pt x="11942189" y="0"/>
                  <a:pt x="12056349" y="17991"/>
                  <a:pt x="12163721" y="51387"/>
                </a:cubicBezTo>
                <a:lnTo>
                  <a:pt x="12192003" y="61738"/>
                </a:lnTo>
                <a:lnTo>
                  <a:pt x="12192003" y="1130300"/>
                </a:lnTo>
                <a:lnTo>
                  <a:pt x="10681469" y="1130300"/>
                </a:lnTo>
                <a:lnTo>
                  <a:pt x="10686729" y="1026126"/>
                </a:lnTo>
                <a:cubicBezTo>
                  <a:pt x="10745262" y="449767"/>
                  <a:pt x="11232021" y="0"/>
                  <a:pt x="11823828" y="0"/>
                </a:cubicBezTo>
                <a:close/>
                <a:moveTo>
                  <a:pt x="9531478" y="0"/>
                </a:moveTo>
                <a:cubicBezTo>
                  <a:pt x="10123285" y="0"/>
                  <a:pt x="10610044" y="449767"/>
                  <a:pt x="10668577" y="1026126"/>
                </a:cubicBezTo>
                <a:lnTo>
                  <a:pt x="10673837" y="1130300"/>
                </a:lnTo>
                <a:lnTo>
                  <a:pt x="8389119" y="1130300"/>
                </a:lnTo>
                <a:lnTo>
                  <a:pt x="8394379" y="1026126"/>
                </a:lnTo>
                <a:cubicBezTo>
                  <a:pt x="8452912" y="449767"/>
                  <a:pt x="8939671" y="0"/>
                  <a:pt x="9531478" y="0"/>
                </a:cubicBezTo>
                <a:close/>
                <a:moveTo>
                  <a:pt x="7239129" y="0"/>
                </a:moveTo>
                <a:cubicBezTo>
                  <a:pt x="7830936" y="0"/>
                  <a:pt x="8317694" y="449767"/>
                  <a:pt x="8376227" y="1026126"/>
                </a:cubicBezTo>
                <a:lnTo>
                  <a:pt x="8381487" y="1130300"/>
                </a:lnTo>
                <a:lnTo>
                  <a:pt x="6096769" y="1130300"/>
                </a:lnTo>
                <a:lnTo>
                  <a:pt x="6102029" y="1026126"/>
                </a:lnTo>
                <a:cubicBezTo>
                  <a:pt x="6160563" y="449767"/>
                  <a:pt x="6647322" y="0"/>
                  <a:pt x="7239129" y="0"/>
                </a:cubicBezTo>
                <a:close/>
                <a:moveTo>
                  <a:pt x="4946780" y="0"/>
                </a:moveTo>
                <a:cubicBezTo>
                  <a:pt x="5538587" y="0"/>
                  <a:pt x="6025345" y="449767"/>
                  <a:pt x="6083878" y="1026126"/>
                </a:cubicBezTo>
                <a:lnTo>
                  <a:pt x="6089139" y="1130300"/>
                </a:lnTo>
                <a:lnTo>
                  <a:pt x="3804423" y="1130300"/>
                </a:lnTo>
                <a:lnTo>
                  <a:pt x="3809684" y="1026126"/>
                </a:lnTo>
                <a:cubicBezTo>
                  <a:pt x="3868216" y="449767"/>
                  <a:pt x="4354972" y="0"/>
                  <a:pt x="4946780" y="0"/>
                </a:cubicBezTo>
                <a:close/>
                <a:moveTo>
                  <a:pt x="2654431" y="0"/>
                </a:moveTo>
                <a:cubicBezTo>
                  <a:pt x="3246238" y="0"/>
                  <a:pt x="3732997" y="449767"/>
                  <a:pt x="3791530" y="1026126"/>
                </a:cubicBezTo>
                <a:lnTo>
                  <a:pt x="3796791" y="1130300"/>
                </a:lnTo>
                <a:lnTo>
                  <a:pt x="1512072" y="1130300"/>
                </a:lnTo>
                <a:lnTo>
                  <a:pt x="1517332" y="1026126"/>
                </a:lnTo>
                <a:cubicBezTo>
                  <a:pt x="1575865" y="449767"/>
                  <a:pt x="2062624" y="0"/>
                  <a:pt x="2654431" y="0"/>
                </a:cubicBezTo>
                <a:close/>
                <a:moveTo>
                  <a:pt x="362080" y="0"/>
                </a:moveTo>
                <a:cubicBezTo>
                  <a:pt x="953887" y="0"/>
                  <a:pt x="1440646" y="449767"/>
                  <a:pt x="1499179" y="1026126"/>
                </a:cubicBezTo>
                <a:lnTo>
                  <a:pt x="1504439" y="1130300"/>
                </a:lnTo>
                <a:lnTo>
                  <a:pt x="0" y="1130300"/>
                </a:lnTo>
                <a:lnTo>
                  <a:pt x="0" y="59507"/>
                </a:lnTo>
                <a:lnTo>
                  <a:pt x="22187" y="51387"/>
                </a:lnTo>
                <a:cubicBezTo>
                  <a:pt x="129559" y="17991"/>
                  <a:pt x="243719" y="0"/>
                  <a:pt x="362080" y="0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62" name="Text Placeholder 61">
            <a:extLst>
              <a:ext uri="{FF2B5EF4-FFF2-40B4-BE49-F238E27FC236}">
                <a16:creationId xmlns:a16="http://schemas.microsoft.com/office/drawing/2014/main" id="{70972619-C968-1257-58C9-0DC6616429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5724189"/>
            <a:ext cx="1503729" cy="1133811"/>
          </a:xfrm>
          <a:custGeom>
            <a:avLst/>
            <a:gdLst>
              <a:gd name="connsiteX0" fmla="*/ 367995 w 1503729"/>
              <a:gd name="connsiteY0" fmla="*/ 19 h 1133811"/>
              <a:gd name="connsiteX1" fmla="*/ 1481576 w 1503729"/>
              <a:gd name="connsiteY1" fmla="*/ 913359 h 1133811"/>
              <a:gd name="connsiteX2" fmla="*/ 1503729 w 1503729"/>
              <a:gd name="connsiteY2" fmla="*/ 1133811 h 1133811"/>
              <a:gd name="connsiteX3" fmla="*/ 1371482 w 1503729"/>
              <a:gd name="connsiteY3" fmla="*/ 1133811 h 1133811"/>
              <a:gd name="connsiteX4" fmla="*/ 1275407 w 1503729"/>
              <a:gd name="connsiteY4" fmla="*/ 1118667 h 1133811"/>
              <a:gd name="connsiteX5" fmla="*/ 367995 w 1503729"/>
              <a:gd name="connsiteY5" fmla="*/ 19 h 1133811"/>
              <a:gd name="connsiteX6" fmla="*/ 367996 w 1503729"/>
              <a:gd name="connsiteY6" fmla="*/ 0 h 1133811"/>
              <a:gd name="connsiteX7" fmla="*/ 33218 w 1503729"/>
              <a:gd name="connsiteY7" fmla="*/ 808204 h 1133811"/>
              <a:gd name="connsiteX8" fmla="*/ 0 w 1503729"/>
              <a:gd name="connsiteY8" fmla="*/ 838393 h 1133811"/>
              <a:gd name="connsiteX9" fmla="*/ 0 w 1503729"/>
              <a:gd name="connsiteY9" fmla="*/ 61671 h 1133811"/>
              <a:gd name="connsiteX10" fmla="*/ 28102 w 1503729"/>
              <a:gd name="connsiteY10" fmla="*/ 51386 h 1133811"/>
              <a:gd name="connsiteX11" fmla="*/ 367996 w 1503729"/>
              <a:gd name="connsiteY11" fmla="*/ 0 h 1133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03729" h="1133811">
                <a:moveTo>
                  <a:pt x="367995" y="19"/>
                </a:moveTo>
                <a:cubicBezTo>
                  <a:pt x="917788" y="3008"/>
                  <a:pt x="1375686" y="394157"/>
                  <a:pt x="1481576" y="913359"/>
                </a:cubicBezTo>
                <a:lnTo>
                  <a:pt x="1503729" y="1133811"/>
                </a:lnTo>
                <a:lnTo>
                  <a:pt x="1371482" y="1133811"/>
                </a:lnTo>
                <a:lnTo>
                  <a:pt x="1275407" y="1118667"/>
                </a:lnTo>
                <a:cubicBezTo>
                  <a:pt x="757177" y="1010082"/>
                  <a:pt x="368000" y="550498"/>
                  <a:pt x="367995" y="19"/>
                </a:cubicBezTo>
                <a:close/>
                <a:moveTo>
                  <a:pt x="367996" y="0"/>
                </a:moveTo>
                <a:cubicBezTo>
                  <a:pt x="367996" y="315623"/>
                  <a:pt x="240061" y="601366"/>
                  <a:pt x="33218" y="808204"/>
                </a:cubicBezTo>
                <a:lnTo>
                  <a:pt x="0" y="838393"/>
                </a:lnTo>
                <a:lnTo>
                  <a:pt x="0" y="61671"/>
                </a:lnTo>
                <a:lnTo>
                  <a:pt x="28102" y="51386"/>
                </a:lnTo>
                <a:cubicBezTo>
                  <a:pt x="135475" y="17991"/>
                  <a:pt x="249634" y="0"/>
                  <a:pt x="367996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3" name="Text Placeholder 92">
            <a:extLst>
              <a:ext uri="{FF2B5EF4-FFF2-40B4-BE49-F238E27FC236}">
                <a16:creationId xmlns:a16="http://schemas.microsoft.com/office/drawing/2014/main" id="{0A4A3873-48BC-94DF-6006-FC7F81660A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01353" y="0"/>
            <a:ext cx="3790647" cy="1143002"/>
          </a:xfrm>
          <a:custGeom>
            <a:avLst/>
            <a:gdLst>
              <a:gd name="connsiteX0" fmla="*/ 3790647 w 3790647"/>
              <a:gd name="connsiteY0" fmla="*/ 304585 h 1143002"/>
              <a:gd name="connsiteX1" fmla="*/ 3790647 w 3790647"/>
              <a:gd name="connsiteY1" fmla="*/ 1081329 h 1143002"/>
              <a:gd name="connsiteX2" fmla="*/ 3762543 w 3790647"/>
              <a:gd name="connsiteY2" fmla="*/ 1091615 h 1143002"/>
              <a:gd name="connsiteX3" fmla="*/ 3422649 w 3790647"/>
              <a:gd name="connsiteY3" fmla="*/ 1143002 h 1143002"/>
              <a:gd name="connsiteX4" fmla="*/ 3757427 w 3790647"/>
              <a:gd name="connsiteY4" fmla="*/ 334777 h 1143002"/>
              <a:gd name="connsiteX5" fmla="*/ 2285997 w 3790647"/>
              <a:gd name="connsiteY5" fmla="*/ 17 h 1143002"/>
              <a:gd name="connsiteX6" fmla="*/ 3422650 w 3790647"/>
              <a:gd name="connsiteY6" fmla="*/ 1142983 h 1143002"/>
              <a:gd name="connsiteX7" fmla="*/ 2285997 w 3790647"/>
              <a:gd name="connsiteY7" fmla="*/ 17 h 1143002"/>
              <a:gd name="connsiteX8" fmla="*/ 0 w 3790647"/>
              <a:gd name="connsiteY8" fmla="*/ 17 h 1143002"/>
              <a:gd name="connsiteX9" fmla="*/ 1136650 w 3790647"/>
              <a:gd name="connsiteY9" fmla="*/ 1142983 h 1143002"/>
              <a:gd name="connsiteX10" fmla="*/ 0 w 3790647"/>
              <a:gd name="connsiteY10" fmla="*/ 17 h 1143002"/>
              <a:gd name="connsiteX11" fmla="*/ 2279650 w 3790647"/>
              <a:gd name="connsiteY11" fmla="*/ 0 h 1143002"/>
              <a:gd name="connsiteX12" fmla="*/ 1136650 w 3790647"/>
              <a:gd name="connsiteY12" fmla="*/ 1143002 h 1143002"/>
              <a:gd name="connsiteX13" fmla="*/ 2279650 w 3790647"/>
              <a:gd name="connsiteY13" fmla="*/ 0 h 1143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90647" h="1143002">
                <a:moveTo>
                  <a:pt x="3790647" y="304585"/>
                </a:moveTo>
                <a:lnTo>
                  <a:pt x="3790647" y="1081329"/>
                </a:lnTo>
                <a:lnTo>
                  <a:pt x="3762543" y="1091615"/>
                </a:lnTo>
                <a:cubicBezTo>
                  <a:pt x="3655170" y="1125011"/>
                  <a:pt x="3541011" y="1143002"/>
                  <a:pt x="3422649" y="1143002"/>
                </a:cubicBezTo>
                <a:cubicBezTo>
                  <a:pt x="3422649" y="827371"/>
                  <a:pt x="3550584" y="541620"/>
                  <a:pt x="3757427" y="334777"/>
                </a:cubicBezTo>
                <a:close/>
                <a:moveTo>
                  <a:pt x="2285997" y="17"/>
                </a:moveTo>
                <a:cubicBezTo>
                  <a:pt x="2914332" y="3435"/>
                  <a:pt x="3422644" y="513848"/>
                  <a:pt x="3422650" y="1142983"/>
                </a:cubicBezTo>
                <a:cubicBezTo>
                  <a:pt x="2794315" y="1139567"/>
                  <a:pt x="2286006" y="629153"/>
                  <a:pt x="2285997" y="17"/>
                </a:cubicBezTo>
                <a:close/>
                <a:moveTo>
                  <a:pt x="0" y="17"/>
                </a:moveTo>
                <a:cubicBezTo>
                  <a:pt x="628334" y="3435"/>
                  <a:pt x="1136644" y="513848"/>
                  <a:pt x="1136650" y="1142983"/>
                </a:cubicBezTo>
                <a:cubicBezTo>
                  <a:pt x="508316" y="1139567"/>
                  <a:pt x="9" y="629153"/>
                  <a:pt x="0" y="17"/>
                </a:cubicBezTo>
                <a:close/>
                <a:moveTo>
                  <a:pt x="2279650" y="0"/>
                </a:moveTo>
                <a:cubicBezTo>
                  <a:pt x="2279650" y="631263"/>
                  <a:pt x="1767910" y="1143002"/>
                  <a:pt x="1136650" y="1143002"/>
                </a:cubicBezTo>
                <a:cubicBezTo>
                  <a:pt x="1136650" y="511739"/>
                  <a:pt x="1648390" y="0"/>
                  <a:pt x="2279650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endParaRPr lang="en-US" dirty="0"/>
          </a:p>
        </p:txBody>
      </p:sp>
      <p:pic>
        <p:nvPicPr>
          <p:cNvPr id="120" name="Graphic 119">
            <a:extLst>
              <a:ext uri="{FF2B5EF4-FFF2-40B4-BE49-F238E27FC236}">
                <a16:creationId xmlns:a16="http://schemas.microsoft.com/office/drawing/2014/main" id="{9C01A786-0C1A-6C4A-1466-1AE233D142AE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8908" b="83148"/>
          <a:stretch/>
        </p:blipFill>
        <p:spPr>
          <a:xfrm>
            <a:off x="8401354" y="12700"/>
            <a:ext cx="3790646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9718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 b="1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+mj-lt"/>
              <a:buAutoNum type="arabicPeriod"/>
              <a:defRPr sz="2000"/>
            </a:lvl1pPr>
            <a:lvl2pPr marL="914400" indent="-457200">
              <a:buSzPct val="100000"/>
              <a:buFont typeface="+mj-lt"/>
              <a:buAutoNum type="alphaLcPeriod"/>
              <a:defRPr sz="2000"/>
            </a:lvl2pPr>
            <a:lvl3pPr marL="1371600" indent="-457200">
              <a:buSzPct val="100000"/>
              <a:buFont typeface="+mj-lt"/>
              <a:buAutoNum type="romanLcPeriod"/>
              <a:defRPr sz="1800"/>
            </a:lvl3pPr>
            <a:lvl4pPr marL="1828800" indent="-457200">
              <a:buSzPct val="100000"/>
              <a:buFont typeface="+mj-lt"/>
              <a:buAutoNum type="arabicParenR"/>
              <a:defRPr sz="1800"/>
            </a:lvl4pPr>
            <a:lvl5pPr marL="2286000" indent="-457200">
              <a:buSzPct val="100000"/>
              <a:buFont typeface="+mj-lt"/>
              <a:buAutoNum type="alphaLcParenR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6079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 123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&amp;ehk=29QrWi4YS95cz1PRdarlA0qRYOmuUf3zx5xR1kXyT5s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lanetarycomputer.microsoft.com/catalog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arthexplorer.usgs.gov/" TargetMode="External"/><Relationship Id="rId5" Type="http://schemas.openxmlformats.org/officeDocument/2006/relationships/hyperlink" Target="https://dataspace.copernicus.eu/data-collections" TargetMode="External"/><Relationship Id="rId4" Type="http://schemas.openxmlformats.org/officeDocument/2006/relationships/hyperlink" Target="https://www.earthdata.nasa.gov/data/catalog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D24A08-0471-D4D1-AD14-EBCA8365DF5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solidFill>
            <a:schemeClr val="accent5">
              <a:lumMod val="75000"/>
            </a:schemeClr>
          </a:solidFill>
        </p:spPr>
        <p:txBody>
          <a:bodyPr/>
          <a:lstStyle/>
          <a:p>
            <a:r>
              <a:rPr lang="en-IN" dirty="0"/>
              <a:t>Hands on Workshop </a:t>
            </a:r>
          </a:p>
          <a:p>
            <a:endParaRPr lang="en-IN" dirty="0"/>
          </a:p>
          <a:p>
            <a:r>
              <a:rPr lang="en-IN" dirty="0"/>
              <a:t>Cypher 2026 </a:t>
            </a:r>
          </a:p>
        </p:txBody>
      </p:sp>
      <p:sp>
        <p:nvSpPr>
          <p:cNvPr id="33" name="Title 32">
            <a:extLst>
              <a:ext uri="{FF2B5EF4-FFF2-40B4-BE49-F238E27FC236}">
                <a16:creationId xmlns:a16="http://schemas.microsoft.com/office/drawing/2014/main" id="{5D8FACD9-4906-4691-55B9-710FC59D2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792" y="946404"/>
            <a:ext cx="5540506" cy="4282821"/>
          </a:xfrm>
        </p:spPr>
        <p:txBody>
          <a:bodyPr/>
          <a:lstStyle/>
          <a:p>
            <a:r>
              <a:rPr lang="en-US" sz="4200" dirty="0">
                <a:solidFill>
                  <a:srgbClr val="FFFFFF"/>
                </a:solidFill>
              </a:rPr>
              <a:t>AI for Space: </a:t>
            </a:r>
            <a:br>
              <a:rPr lang="en-US" sz="4200" dirty="0">
                <a:solidFill>
                  <a:srgbClr val="FFFFFF"/>
                </a:solidFill>
              </a:rPr>
            </a:br>
            <a:br>
              <a:rPr lang="en-US" sz="4200" dirty="0">
                <a:solidFill>
                  <a:srgbClr val="FFFFFF"/>
                </a:solidFill>
              </a:rPr>
            </a:br>
            <a:r>
              <a:rPr lang="en-US" sz="4200" dirty="0">
                <a:solidFill>
                  <a:srgbClr val="FFFFFF"/>
                </a:solidFill>
              </a:rPr>
              <a:t>From pixels to intelligence </a:t>
            </a:r>
            <a:br>
              <a:rPr lang="en-US" sz="4200" dirty="0"/>
            </a:br>
            <a:endParaRPr lang="en-US" sz="4200" dirty="0"/>
          </a:p>
        </p:txBody>
      </p:sp>
      <p:pic>
        <p:nvPicPr>
          <p:cNvPr id="4" name="Video 6" descr="Three Satellite Dishes">
            <a:extLst>
              <a:ext uri="{FF2B5EF4-FFF2-40B4-BE49-F238E27FC236}">
                <a16:creationId xmlns:a16="http://schemas.microsoft.com/office/drawing/2014/main" id="{329D1EF8-B74A-1940-CDC5-9211A16E7DE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9773" r="16091"/>
          <a:stretch>
            <a:fillRect/>
          </a:stretch>
        </p:blipFill>
        <p:spPr>
          <a:xfrm>
            <a:off x="6111240" y="2231136"/>
            <a:ext cx="6080760" cy="4626864"/>
          </a:xfrm>
          <a:prstGeom prst="rect">
            <a:avLst/>
          </a:prstGeom>
          <a:noFill/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7E77CC48-80D1-BCE1-518F-5914DBDA8B49}"/>
              </a:ext>
            </a:extLst>
          </p:cNvPr>
          <p:cNvSpPr txBox="1">
            <a:spLocks/>
          </p:cNvSpPr>
          <p:nvPr/>
        </p:nvSpPr>
        <p:spPr>
          <a:xfrm>
            <a:off x="9141" y="6002495"/>
            <a:ext cx="6083808" cy="855505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 anchor="t">
            <a:noAutofit/>
          </a:bodyPr>
          <a:lstStyle>
            <a:lvl1pPr marL="347472" indent="-34747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SzPct val="75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3152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09728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6304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5000"/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Suguna Jayaraj (Ex Swissre/AIG/Lloyd’s)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US" sz="1800" dirty="0">
                <a:solidFill>
                  <a:srgbClr val="FFFFFF"/>
                </a:solidFill>
              </a:rPr>
              <a:t>Founder, Entropy Analytix </a:t>
            </a:r>
          </a:p>
          <a:p>
            <a:pPr>
              <a:buFontTx/>
              <a:buChar char="-"/>
            </a:pPr>
            <a:endParaRPr 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8334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77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6923F-2B95-8D5A-8578-DBC0FC0DC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>
            <a:norm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EA6BC-F3A8-6DDC-F1F8-6348F54E8B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67B645E-C5E5-4727-B977-D372A0AA71D9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16" name="Text Placeholder 4">
            <a:extLst>
              <a:ext uri="{FF2B5EF4-FFF2-40B4-BE49-F238E27FC236}">
                <a16:creationId xmlns:a16="http://schemas.microsoft.com/office/drawing/2014/main" id="{F71CFF63-4A48-DBF2-448C-396EE1A0FD56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045113564"/>
              </p:ext>
            </p:extLst>
          </p:nvPr>
        </p:nvGraphicFramePr>
        <p:xfrm>
          <a:off x="841248" y="1536827"/>
          <a:ext cx="6556375" cy="4479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32634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A07F6-EEE1-1F77-8AE0-66854F00E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9F5E93-C49A-D6B6-B7B4-D29277418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 – Satellite data </a:t>
            </a:r>
          </a:p>
        </p:txBody>
      </p:sp>
      <p:pic>
        <p:nvPicPr>
          <p:cNvPr id="3" name="Picture 2" descr="Transformative Impact of LEO Satellites | Entrapeer">
            <a:extLst>
              <a:ext uri="{FF2B5EF4-FFF2-40B4-BE49-F238E27FC236}">
                <a16:creationId xmlns:a16="http://schemas.microsoft.com/office/drawing/2014/main" id="{5224A8B9-BB2E-4EDF-0843-AA031F2A5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43" y="1320337"/>
            <a:ext cx="6654168" cy="3127935"/>
          </a:xfrm>
          <a:prstGeom prst="rect">
            <a:avLst/>
          </a:prstGeom>
        </p:spPr>
      </p:pic>
      <p:pic>
        <p:nvPicPr>
          <p:cNvPr id="6" name="Picture 5" descr="Satellite Data Services Market Size &amp; Forecast Report 2035">
            <a:extLst>
              <a:ext uri="{FF2B5EF4-FFF2-40B4-BE49-F238E27FC236}">
                <a16:creationId xmlns:a16="http://schemas.microsoft.com/office/drawing/2014/main" id="{C6933B95-44BC-72F9-B944-A15D8D1FF8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412"/>
          <a:stretch>
            <a:fillRect/>
          </a:stretch>
        </p:blipFill>
        <p:spPr>
          <a:xfrm>
            <a:off x="5720715" y="3730065"/>
            <a:ext cx="6471285" cy="312793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84AB77F-E4B5-76FC-3B26-799C509E12C5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>
                <a:solidFill>
                  <a:schemeClr val="lt1"/>
                </a:solidFill>
              </a:rPr>
              <a:t>Introduction </a:t>
            </a:r>
          </a:p>
        </p:txBody>
      </p:sp>
    </p:spTree>
    <p:extLst>
      <p:ext uri="{BB962C8B-B14F-4D97-AF65-F5344CB8AC3E}">
        <p14:creationId xmlns:p14="http://schemas.microsoft.com/office/powerpoint/2010/main" val="41963888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53A34-B65F-6D7D-A071-A79695CA5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D6B46-331C-18A4-E80C-746456D7B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151" y="662279"/>
            <a:ext cx="10479024" cy="557784"/>
          </a:xfrm>
        </p:spPr>
        <p:txBody>
          <a:bodyPr/>
          <a:lstStyle/>
          <a:p>
            <a:r>
              <a:rPr lang="en-US" dirty="0"/>
              <a:t>Satellite data – sources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49638-C38D-4D83-C252-CC0E7B5FAF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219495-FCA9-219D-06F8-ABCEA061E654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>
                <a:solidFill>
                  <a:schemeClr val="lt1"/>
                </a:solidFill>
              </a:rPr>
              <a:t>Introduction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C7039E2-D11D-9034-BECC-1A4489D88CB1}"/>
              </a:ext>
            </a:extLst>
          </p:cNvPr>
          <p:cNvGrpSpPr/>
          <p:nvPr/>
        </p:nvGrpSpPr>
        <p:grpSpPr>
          <a:xfrm>
            <a:off x="79603" y="1989654"/>
            <a:ext cx="5489762" cy="3943614"/>
            <a:chOff x="6270853" y="1989654"/>
            <a:chExt cx="5489762" cy="394361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937B391-4C98-6C2D-B1B3-313269561913}"/>
                </a:ext>
              </a:extLst>
            </p:cNvPr>
            <p:cNvSpPr txBox="1"/>
            <p:nvPr/>
          </p:nvSpPr>
          <p:spPr>
            <a:xfrm>
              <a:off x="6292229" y="1989654"/>
              <a:ext cx="21923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400" b="1" dirty="0"/>
                <a:t>Govt Space data providers 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3335CF4-D513-0D3C-3B2D-B85DACAD083C}"/>
                </a:ext>
              </a:extLst>
            </p:cNvPr>
            <p:cNvGrpSpPr/>
            <p:nvPr/>
          </p:nvGrpSpPr>
          <p:grpSpPr>
            <a:xfrm>
              <a:off x="6638259" y="2587751"/>
              <a:ext cx="4934616" cy="1133475"/>
              <a:chOff x="170784" y="5428983"/>
              <a:chExt cx="4934616" cy="1133475"/>
            </a:xfrm>
          </p:grpSpPr>
          <p:pic>
            <p:nvPicPr>
              <p:cNvPr id="17" name="Picture 16" descr="NASA PNG File | PNG Mart">
                <a:extLst>
                  <a:ext uri="{FF2B5EF4-FFF2-40B4-BE49-F238E27FC236}">
                    <a16:creationId xmlns:a16="http://schemas.microsoft.com/office/drawing/2014/main" id="{7B1D7EAB-BF7D-5434-F5E1-98D94E9264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70784" y="5428983"/>
                <a:ext cx="1119234" cy="1133475"/>
              </a:xfrm>
              <a:prstGeom prst="rect">
                <a:avLst/>
              </a:prstGeom>
            </p:spPr>
          </p:pic>
          <p:pic>
            <p:nvPicPr>
              <p:cNvPr id="18" name="Picture 17" descr="Esa european space agency logo – Artofit">
                <a:extLst>
                  <a:ext uri="{FF2B5EF4-FFF2-40B4-BE49-F238E27FC236}">
                    <a16:creationId xmlns:a16="http://schemas.microsoft.com/office/drawing/2014/main" id="{0198C67D-3E35-845C-105E-E02340CCFA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11989" y="5705475"/>
                <a:ext cx="2084004" cy="752475"/>
              </a:xfrm>
              <a:prstGeom prst="rect">
                <a:avLst/>
              </a:prstGeom>
            </p:spPr>
          </p:pic>
          <p:pic>
            <p:nvPicPr>
              <p:cNvPr id="19" name="Picture 18" descr="Isro Logo PNG Images (Transparent HD Photo Clipart)">
                <a:extLst>
                  <a:ext uri="{FF2B5EF4-FFF2-40B4-BE49-F238E27FC236}">
                    <a16:creationId xmlns:a16="http://schemas.microsoft.com/office/drawing/2014/main" id="{3FFFEA2B-71D0-69F6-6F23-60E258B6CC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81462" y="5496480"/>
                <a:ext cx="1023938" cy="1023938"/>
              </a:xfrm>
              <a:prstGeom prst="rect">
                <a:avLst/>
              </a:prstGeom>
            </p:spPr>
          </p:pic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3D8D91E-7575-08F2-DF36-EB7F87CEED63}"/>
                </a:ext>
              </a:extLst>
            </p:cNvPr>
            <p:cNvSpPr txBox="1"/>
            <p:nvPr/>
          </p:nvSpPr>
          <p:spPr>
            <a:xfrm>
              <a:off x="6270853" y="4260253"/>
              <a:ext cx="131337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400" b="1" dirty="0"/>
                <a:t>Private Players 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863F8F-8B6C-926C-1494-2C3CB5B4E04D}"/>
                </a:ext>
              </a:extLst>
            </p:cNvPr>
            <p:cNvGrpSpPr/>
            <p:nvPr/>
          </p:nvGrpSpPr>
          <p:grpSpPr>
            <a:xfrm>
              <a:off x="6472325" y="5063092"/>
              <a:ext cx="5288290" cy="870176"/>
              <a:chOff x="6472325" y="5063092"/>
              <a:chExt cx="5288290" cy="870176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A03CCB5C-9430-83F4-3D12-B7F83544B2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55568" y="5105740"/>
                <a:ext cx="1063761" cy="709174"/>
              </a:xfrm>
              <a:prstGeom prst="rect">
                <a:avLst/>
              </a:prstGeom>
            </p:spPr>
          </p:pic>
          <p:pic>
            <p:nvPicPr>
              <p:cNvPr id="25" name="Picture 24" descr="Pixxel | Nanosats Database">
                <a:extLst>
                  <a:ext uri="{FF2B5EF4-FFF2-40B4-BE49-F238E27FC236}">
                    <a16:creationId xmlns:a16="http://schemas.microsoft.com/office/drawing/2014/main" id="{826D81FE-D5E2-E255-D97A-6B3C3171CC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4796" t="19324" b="9264"/>
              <a:stretch>
                <a:fillRect/>
              </a:stretch>
            </p:blipFill>
            <p:spPr>
              <a:xfrm>
                <a:off x="6472325" y="5107057"/>
                <a:ext cx="1249165" cy="468499"/>
              </a:xfrm>
              <a:prstGeom prst="rect">
                <a:avLst/>
              </a:prstGeom>
            </p:spPr>
          </p:pic>
          <p:pic>
            <p:nvPicPr>
              <p:cNvPr id="26" name="Picture 25" descr="5 Leading Satellite Data Services - Verified Market Research">
                <a:extLst>
                  <a:ext uri="{FF2B5EF4-FFF2-40B4-BE49-F238E27FC236}">
                    <a16:creationId xmlns:a16="http://schemas.microsoft.com/office/drawing/2014/main" id="{9FE7AE2B-B069-18C8-5DC4-E069064E57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t="32942" b="32478"/>
              <a:stretch>
                <a:fillRect/>
              </a:stretch>
            </p:blipFill>
            <p:spPr>
              <a:xfrm>
                <a:off x="8980300" y="5066217"/>
                <a:ext cx="1249165" cy="431963"/>
              </a:xfrm>
              <a:prstGeom prst="rect">
                <a:avLst/>
              </a:prstGeom>
            </p:spPr>
          </p:pic>
          <p:pic>
            <p:nvPicPr>
              <p:cNvPr id="27" name="Picture 26" descr="GalaxEye: Pioneering India's Space Technology Frontier 🚀">
                <a:extLst>
                  <a:ext uri="{FF2B5EF4-FFF2-40B4-BE49-F238E27FC236}">
                    <a16:creationId xmlns:a16="http://schemas.microsoft.com/office/drawing/2014/main" id="{A8490F95-7F44-D75D-0CBC-7ABF14D89E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rcRect l="24911" t="22969" r="23316" b="15745"/>
              <a:stretch>
                <a:fillRect/>
              </a:stretch>
            </p:blipFill>
            <p:spPr>
              <a:xfrm>
                <a:off x="10290436" y="5063092"/>
                <a:ext cx="1470179" cy="87017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43551557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9A3DF-66E5-A296-66BD-D6493F316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0FE74-DB05-EAD0-64DD-1011829F3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151" y="662279"/>
            <a:ext cx="10479024" cy="557784"/>
          </a:xfrm>
        </p:spPr>
        <p:txBody>
          <a:bodyPr/>
          <a:lstStyle/>
          <a:p>
            <a:r>
              <a:rPr lang="en-US" dirty="0"/>
              <a:t>Satellite IMAGE – What is different? 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C3E27-024E-8845-9DB1-D1D7ACF54A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8" name="Picture 7" descr="Diagram showing the wavelengths of spectral bands in multispectral satellite imagery">
            <a:extLst>
              <a:ext uri="{FF2B5EF4-FFF2-40B4-BE49-F238E27FC236}">
                <a16:creationId xmlns:a16="http://schemas.microsoft.com/office/drawing/2014/main" id="{7E54C28D-28FF-D250-444B-742C52391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4" y="1539442"/>
            <a:ext cx="8550271" cy="30313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4F9C75-F8CA-2771-C6A7-5BC4069A0806}"/>
              </a:ext>
            </a:extLst>
          </p:cNvPr>
          <p:cNvSpPr txBox="1"/>
          <p:nvPr/>
        </p:nvSpPr>
        <p:spPr>
          <a:xfrm>
            <a:off x="523875" y="5069169"/>
            <a:ext cx="8742521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dirty="0"/>
              <a:t>Satellite or aerial images that reveal these additional spectral bands are called </a:t>
            </a:r>
            <a:r>
              <a:rPr lang="en-IN" sz="1400" b="1" dirty="0"/>
              <a:t>multispectral</a:t>
            </a:r>
            <a:r>
              <a:rPr lang="en-IN" sz="1400" dirty="0"/>
              <a:t>.</a:t>
            </a:r>
            <a:r>
              <a:rPr lang="en-IN" sz="1400" b="1" dirty="0"/>
              <a:t> </a:t>
            </a:r>
            <a:r>
              <a:rPr lang="en-IN" sz="1400" dirty="0"/>
              <a:t>They show things like:</a:t>
            </a:r>
          </a:p>
          <a:p>
            <a:r>
              <a:rPr lang="en-IN" sz="1400" dirty="0"/>
              <a:t> </a:t>
            </a:r>
          </a:p>
          <a:p>
            <a:pPr lvl="0" fontAlgn="base"/>
            <a:r>
              <a:rPr lang="en-IN" sz="1400" b="1" dirty="0"/>
              <a:t>Chlorophyll activity</a:t>
            </a:r>
            <a:r>
              <a:rPr lang="en-IN" sz="1400" dirty="0"/>
              <a:t>, which is used to classify plant species and determine vegetation age, health, or stress </a:t>
            </a:r>
          </a:p>
          <a:p>
            <a:pPr lvl="0" fontAlgn="base"/>
            <a:r>
              <a:rPr lang="en-IN" sz="1400" b="1" dirty="0"/>
              <a:t>Mineral content in the soil</a:t>
            </a:r>
            <a:r>
              <a:rPr lang="en-IN" sz="1400" dirty="0"/>
              <a:t>, which is important for mining </a:t>
            </a:r>
          </a:p>
          <a:p>
            <a:pPr lvl="0" fontAlgn="base"/>
            <a:r>
              <a:rPr lang="en-IN" sz="1400" b="1" dirty="0"/>
              <a:t>Water content in soil and vegetation</a:t>
            </a:r>
            <a:r>
              <a:rPr lang="en-IN" sz="1400" dirty="0"/>
              <a:t>, which is useful for predicting floods and wildfires </a:t>
            </a:r>
          </a:p>
          <a:p>
            <a:pPr lvl="0" fontAlgn="base"/>
            <a:r>
              <a:rPr lang="en-IN" sz="1400" b="1" dirty="0"/>
              <a:t>Material characteristics</a:t>
            </a:r>
            <a:r>
              <a:rPr lang="en-IN" sz="1400" dirty="0"/>
              <a:t> used to create urban maps or reveal camouflage </a:t>
            </a:r>
          </a:p>
          <a:p>
            <a:endParaRPr lang="en-IN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7F9F64-E181-D32C-23AB-8A09154DABA8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>
                <a:solidFill>
                  <a:schemeClr val="lt1"/>
                </a:solidFill>
              </a:rPr>
              <a:t>Introduction </a:t>
            </a:r>
          </a:p>
        </p:txBody>
      </p:sp>
    </p:spTree>
    <p:extLst>
      <p:ext uri="{BB962C8B-B14F-4D97-AF65-F5344CB8AC3E}">
        <p14:creationId xmlns:p14="http://schemas.microsoft.com/office/powerpoint/2010/main" val="3023649852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3BC3C-293F-C57F-C0CC-5CE8E16BA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DC3B7-87E0-C7B8-2D1A-2AFBB1428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151" y="662279"/>
            <a:ext cx="10479024" cy="557784"/>
          </a:xfrm>
        </p:spPr>
        <p:txBody>
          <a:bodyPr/>
          <a:lstStyle/>
          <a:p>
            <a:r>
              <a:rPr lang="en-US" dirty="0"/>
              <a:t>Understanding resolution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16B21-1103-60BC-A2AF-F546FE2719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B903B-88BE-6208-04BA-7939CE5D0B87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>
                <a:solidFill>
                  <a:schemeClr val="lt1"/>
                </a:solidFill>
              </a:rPr>
              <a:t>Introduction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CB92448-93C8-9AB5-1EC0-FC2DDD792D7E}"/>
              </a:ext>
            </a:extLst>
          </p:cNvPr>
          <p:cNvGrpSpPr/>
          <p:nvPr/>
        </p:nvGrpSpPr>
        <p:grpSpPr>
          <a:xfrm>
            <a:off x="457200" y="1441513"/>
            <a:ext cx="3581400" cy="2700824"/>
            <a:chOff x="457200" y="1441513"/>
            <a:chExt cx="3581400" cy="2700824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82C8B1A-C451-637E-9B6A-B74982856D19}"/>
                </a:ext>
              </a:extLst>
            </p:cNvPr>
            <p:cNvSpPr/>
            <p:nvPr/>
          </p:nvSpPr>
          <p:spPr>
            <a:xfrm>
              <a:off x="457200" y="1441513"/>
              <a:ext cx="3581400" cy="557785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Spatial Resolution </a:t>
              </a:r>
            </a:p>
            <a:p>
              <a:pPr algn="ctr"/>
              <a:r>
                <a:rPr lang="en-IN" sz="1400" dirty="0">
                  <a:solidFill>
                    <a:schemeClr val="tx1"/>
                  </a:solidFill>
                </a:rPr>
                <a:t>(Where?)</a:t>
              </a:r>
            </a:p>
          </p:txBody>
        </p:sp>
        <p:pic>
          <p:nvPicPr>
            <p:cNvPr id="14" name="Picture 13" descr="Explore imagery – Spatial resolution | Documentation">
              <a:extLst>
                <a:ext uri="{FF2B5EF4-FFF2-40B4-BE49-F238E27FC236}">
                  <a16:creationId xmlns:a16="http://schemas.microsoft.com/office/drawing/2014/main" id="{2141EA51-8ADA-6ECE-CC4D-56DAC6FEB9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7563" y="2129386"/>
              <a:ext cx="2700038" cy="2012951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DD085232-B385-5718-4380-1C8F85952C1E}"/>
              </a:ext>
            </a:extLst>
          </p:cNvPr>
          <p:cNvGrpSpPr/>
          <p:nvPr/>
        </p:nvGrpSpPr>
        <p:grpSpPr>
          <a:xfrm>
            <a:off x="4476750" y="1395832"/>
            <a:ext cx="3581400" cy="2703976"/>
            <a:chOff x="4476750" y="1395832"/>
            <a:chExt cx="3581400" cy="270397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AD796F0-C2AD-4779-DFAE-58A8757DA231}"/>
                </a:ext>
              </a:extLst>
            </p:cNvPr>
            <p:cNvSpPr/>
            <p:nvPr/>
          </p:nvSpPr>
          <p:spPr>
            <a:xfrm>
              <a:off x="4476750" y="1395832"/>
              <a:ext cx="3581400" cy="557785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Temporal Resolution</a:t>
              </a:r>
            </a:p>
            <a:p>
              <a:pPr algn="ctr"/>
              <a:r>
                <a:rPr lang="en-IN" sz="1400" dirty="0">
                  <a:solidFill>
                    <a:schemeClr val="tx1"/>
                  </a:solidFill>
                </a:rPr>
                <a:t>(When?) </a:t>
              </a: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D2BA521-DE51-F0A5-E39F-4F221DC6B83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4259" t="25138" r="33797" b="46129"/>
            <a:stretch>
              <a:fillRect/>
            </a:stretch>
          </p:blipFill>
          <p:spPr>
            <a:xfrm>
              <a:off x="4580763" y="2129386"/>
              <a:ext cx="3286125" cy="1970422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998DAF58-014C-2E5C-5A9C-82420F759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001" y="5653000"/>
            <a:ext cx="10917174" cy="876422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B3B76BDD-8352-EA18-FE82-8E087D0AFC02}"/>
              </a:ext>
            </a:extLst>
          </p:cNvPr>
          <p:cNvGrpSpPr/>
          <p:nvPr/>
        </p:nvGrpSpPr>
        <p:grpSpPr>
          <a:xfrm>
            <a:off x="8496300" y="1394700"/>
            <a:ext cx="3581400" cy="2201323"/>
            <a:chOff x="8496300" y="1394700"/>
            <a:chExt cx="3581400" cy="2201323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1BC25D0-AA5F-2362-26D7-EEAB60D855F4}"/>
                </a:ext>
              </a:extLst>
            </p:cNvPr>
            <p:cNvSpPr/>
            <p:nvPr/>
          </p:nvSpPr>
          <p:spPr>
            <a:xfrm>
              <a:off x="8496300" y="1394700"/>
              <a:ext cx="3581400" cy="557785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Spectral Resolution</a:t>
              </a:r>
            </a:p>
            <a:p>
              <a:pPr algn="ctr"/>
              <a:r>
                <a:rPr lang="en-IN" sz="1400" dirty="0">
                  <a:solidFill>
                    <a:schemeClr val="tx1"/>
                  </a:solidFill>
                </a:rPr>
                <a:t>(What?) </a:t>
              </a: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1469DDA5-9D7C-45FD-6E7C-320A7A5D4F1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96300" y="2271863"/>
              <a:ext cx="3553321" cy="13241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9444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AC0AC-8C67-8826-629F-EB758E7B3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A5CDA6-8297-91E3-8329-1AF8BDC8F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494" y="342900"/>
            <a:ext cx="6931152" cy="557784"/>
          </a:xfrm>
        </p:spPr>
        <p:txBody>
          <a:bodyPr>
            <a:normAutofit/>
          </a:bodyPr>
          <a:lstStyle/>
          <a:p>
            <a:r>
              <a:rPr lang="en-IN" dirty="0"/>
              <a:t>EARTH OBSERVATION APPLICATIONS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4A607A-D249-EB80-0071-62D4B505DB25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>
                <a:solidFill>
                  <a:schemeClr val="lt1"/>
                </a:solidFill>
              </a:rPr>
              <a:t>Introduction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E12E86A-E6DB-7724-5971-D3A4103514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70" t="16222" r="34429" b="42082"/>
          <a:stretch>
            <a:fillRect/>
          </a:stretch>
        </p:blipFill>
        <p:spPr>
          <a:xfrm>
            <a:off x="4417997" y="1032541"/>
            <a:ext cx="3151900" cy="269243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68EA84D-B7F3-3328-FB9B-63AAD60F92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774" t="16222" r="1725" b="42082"/>
          <a:stretch>
            <a:fillRect/>
          </a:stretch>
        </p:blipFill>
        <p:spPr>
          <a:xfrm>
            <a:off x="4403406" y="3880545"/>
            <a:ext cx="3166491" cy="279416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EA14683-3329-B1D0-9E67-E1F1709503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4" t="58234" r="66914" b="1488"/>
          <a:stretch>
            <a:fillRect/>
          </a:stretch>
        </p:blipFill>
        <p:spPr>
          <a:xfrm>
            <a:off x="7882096" y="3923759"/>
            <a:ext cx="3320429" cy="275095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3FABDDC-2A2E-0CC5-E15F-0DC8BDF49F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05" t="57419" r="34053" b="668"/>
          <a:stretch>
            <a:fillRect/>
          </a:stretch>
        </p:blipFill>
        <p:spPr>
          <a:xfrm>
            <a:off x="945145" y="3880545"/>
            <a:ext cx="3164099" cy="27941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8DDE32D-C796-3992-70B9-2118804474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75" t="16222" r="66410" b="42524"/>
          <a:stretch>
            <a:fillRect/>
          </a:stretch>
        </p:blipFill>
        <p:spPr>
          <a:xfrm>
            <a:off x="945145" y="1046196"/>
            <a:ext cx="3160652" cy="2665126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9E3C7D2-B0FF-B17D-9B06-D483AF1FDC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540" t="58304" r="844" b="1938"/>
          <a:stretch>
            <a:fillRect/>
          </a:stretch>
        </p:blipFill>
        <p:spPr>
          <a:xfrm>
            <a:off x="7882097" y="1031347"/>
            <a:ext cx="3320430" cy="2698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012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E6C59-F7D5-91A8-F9E9-A0AC31DCF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>
            <a:extLst>
              <a:ext uri="{FF2B5EF4-FFF2-40B4-BE49-F238E27FC236}">
                <a16:creationId xmlns:a16="http://schemas.microsoft.com/office/drawing/2014/main" id="{E9D2E2ED-D0B2-FA04-2E35-BA3A137C9701}"/>
              </a:ext>
            </a:extLst>
          </p:cNvPr>
          <p:cNvSpPr txBox="1">
            <a:spLocks/>
          </p:cNvSpPr>
          <p:nvPr/>
        </p:nvSpPr>
        <p:spPr>
          <a:xfrm>
            <a:off x="4690349" y="2171700"/>
            <a:ext cx="7501651" cy="2038350"/>
          </a:xfrm>
          <a:prstGeom prst="rect">
            <a:avLst/>
          </a:prstGeom>
          <a:solidFill>
            <a:srgbClr val="0070C0"/>
          </a:solidFill>
        </p:spPr>
        <p:txBody>
          <a:bodyPr vert="horz" lIns="0" tIns="0" rIns="0" bIns="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ZA" sz="2000" b="1" kern="1200" cap="all" spc="300" baseline="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FFFFFF"/>
                </a:solidFill>
              </a:rPr>
              <a:t>Hands on – Module 1</a:t>
            </a:r>
          </a:p>
          <a:p>
            <a:endParaRPr lang="en-US" sz="3600" dirty="0">
              <a:solidFill>
                <a:srgbClr val="FFFFFF"/>
              </a:solidFill>
            </a:endParaRPr>
          </a:p>
          <a:p>
            <a:r>
              <a:rPr lang="en-US" sz="2400" dirty="0">
                <a:solidFill>
                  <a:srgbClr val="FFFFFF"/>
                </a:solidFill>
              </a:rPr>
              <a:t>DATA PREPARATION </a:t>
            </a:r>
          </a:p>
        </p:txBody>
      </p:sp>
    </p:spTree>
    <p:extLst>
      <p:ext uri="{BB962C8B-B14F-4D97-AF65-F5344CB8AC3E}">
        <p14:creationId xmlns:p14="http://schemas.microsoft.com/office/powerpoint/2010/main" val="1231587867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34DAF-F207-3061-24D6-6AFF55241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498" y="623042"/>
            <a:ext cx="10479024" cy="557784"/>
          </a:xfrm>
        </p:spPr>
        <p:txBody>
          <a:bodyPr/>
          <a:lstStyle/>
          <a:p>
            <a:r>
              <a:rPr lang="en-US" dirty="0"/>
              <a:t>Geospatial libraries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F9477-0E09-541A-1BEE-18EAF43FE0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248785-4ADC-1FA8-6760-C7C0466BE9CA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Module – 1 </a:t>
            </a:r>
            <a:endParaRPr lang="en-IN" sz="1400" b="1" dirty="0">
              <a:solidFill>
                <a:schemeClr val="lt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51B584-8B56-DDCB-2BC3-6F55987A8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88" y="1752326"/>
            <a:ext cx="7697274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475074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44881-82CB-7084-BC26-9AA70CDFB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6A47A-689D-0C31-12F2-96A66F27F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498" y="623042"/>
            <a:ext cx="10479024" cy="557784"/>
          </a:xfrm>
        </p:spPr>
        <p:txBody>
          <a:bodyPr/>
          <a:lstStyle/>
          <a:p>
            <a:r>
              <a:rPr lang="en-US" dirty="0"/>
              <a:t>Data download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1E1F1-CA13-2CEE-F30E-79C453CE04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1EEA9C-AB42-B71B-0FAF-6D7AA09E959A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Module – 1 </a:t>
            </a:r>
            <a:endParaRPr lang="en-IN" sz="1400" b="1" dirty="0">
              <a:solidFill>
                <a:schemeClr val="l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87CCAF-112B-6266-DFF2-51EF23ED4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8" y="3267517"/>
            <a:ext cx="6388354" cy="33543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2E2FC38-C9EC-2A2B-1213-3F98F772A299}"/>
              </a:ext>
            </a:extLst>
          </p:cNvPr>
          <p:cNvSpPr txBox="1"/>
          <p:nvPr/>
        </p:nvSpPr>
        <p:spPr>
          <a:xfrm>
            <a:off x="555498" y="2846212"/>
            <a:ext cx="62626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 </a:t>
            </a:r>
            <a:r>
              <a:rPr lang="en-IN" sz="140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Catalog</a:t>
            </a:r>
            <a:r>
              <a:rPr lang="en-IN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| Planetary Computer</a:t>
            </a:r>
            <a:endParaRPr lang="en-IN" sz="1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DCC238-2883-0DD5-FA8F-ACEC84E3C09F}"/>
              </a:ext>
            </a:extLst>
          </p:cNvPr>
          <p:cNvSpPr/>
          <p:nvPr/>
        </p:nvSpPr>
        <p:spPr>
          <a:xfrm>
            <a:off x="555498" y="1086429"/>
            <a:ext cx="8864727" cy="164625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1400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 </a:t>
            </a:r>
            <a:r>
              <a:rPr lang="en-IN" sz="1400" dirty="0" err="1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Catalog</a:t>
            </a:r>
            <a:r>
              <a:rPr lang="en-IN" sz="1400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| NASA </a:t>
            </a:r>
            <a:r>
              <a:rPr lang="en-IN" sz="1400" dirty="0" err="1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Earthdata</a:t>
            </a:r>
            <a:endParaRPr lang="en-IN" sz="1400" dirty="0">
              <a:solidFill>
                <a:schemeClr val="tx1"/>
              </a:solidFill>
            </a:endParaRPr>
          </a:p>
          <a:p>
            <a:endParaRPr lang="en-IN" sz="1400" dirty="0">
              <a:solidFill>
                <a:schemeClr val="tx1"/>
              </a:solidFill>
            </a:endParaRPr>
          </a:p>
          <a:p>
            <a:r>
              <a:rPr lang="en-IN" sz="1400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 Collections | Copernicus Data Space Ecosystem</a:t>
            </a:r>
            <a:endParaRPr lang="en-IN" sz="1400" dirty="0">
              <a:solidFill>
                <a:schemeClr val="tx1"/>
              </a:solidFill>
            </a:endParaRPr>
          </a:p>
          <a:p>
            <a:endParaRPr lang="en-IN" sz="1400" dirty="0">
              <a:solidFill>
                <a:schemeClr val="tx1"/>
              </a:solidFill>
            </a:endParaRPr>
          </a:p>
          <a:p>
            <a:r>
              <a:rPr lang="en-IN" sz="1400" dirty="0" err="1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EarthExplorer</a:t>
            </a:r>
            <a:endParaRPr lang="en-IN" sz="1400" dirty="0">
              <a:solidFill>
                <a:schemeClr val="tx1"/>
              </a:solidFill>
            </a:endParaRPr>
          </a:p>
          <a:p>
            <a:endParaRPr lang="en-IN" sz="1400" dirty="0">
              <a:solidFill>
                <a:schemeClr val="tx1"/>
              </a:solidFill>
            </a:endParaRPr>
          </a:p>
          <a:p>
            <a:r>
              <a:rPr lang="en-IN" sz="1400" dirty="0">
                <a:solidFill>
                  <a:schemeClr val="tx1"/>
                </a:solidFill>
              </a:rPr>
              <a:t>Google Earth Engine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9D2093-3D88-A2E2-0173-C2A33D71BDC1}"/>
              </a:ext>
            </a:extLst>
          </p:cNvPr>
          <p:cNvSpPr txBox="1"/>
          <p:nvPr/>
        </p:nvSpPr>
        <p:spPr>
          <a:xfrm>
            <a:off x="7194333" y="5288427"/>
            <a:ext cx="4308348" cy="13849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IN" sz="1200" i="1" dirty="0"/>
              <a:t>Lot of geospatial datasets are available open source available for consumption in the form of API, downloads and Python packages</a:t>
            </a:r>
          </a:p>
          <a:p>
            <a:endParaRPr lang="en-IN" sz="1200" i="1" dirty="0"/>
          </a:p>
          <a:p>
            <a:r>
              <a:rPr lang="en-IN" sz="1200" i="1" dirty="0"/>
              <a:t>Challenge is in testing the right data source, resolution and level of processing for the use case and geography of study.</a:t>
            </a:r>
          </a:p>
          <a:p>
            <a:r>
              <a:rPr lang="en-IN" sz="1200" i="1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617319104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A3404-1366-F962-3A2B-82BAC4CA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>
            <a:extLst>
              <a:ext uri="{FF2B5EF4-FFF2-40B4-BE49-F238E27FC236}">
                <a16:creationId xmlns:a16="http://schemas.microsoft.com/office/drawing/2014/main" id="{99067BD3-A031-4D35-D7EC-873C057E6212}"/>
              </a:ext>
            </a:extLst>
          </p:cNvPr>
          <p:cNvSpPr txBox="1">
            <a:spLocks/>
          </p:cNvSpPr>
          <p:nvPr/>
        </p:nvSpPr>
        <p:spPr>
          <a:xfrm>
            <a:off x="4690349" y="2171700"/>
            <a:ext cx="7501651" cy="2038350"/>
          </a:xfrm>
          <a:prstGeom prst="rect">
            <a:avLst/>
          </a:prstGeom>
          <a:solidFill>
            <a:srgbClr val="0070C0"/>
          </a:solidFill>
        </p:spPr>
        <p:txBody>
          <a:bodyPr vert="horz" lIns="0" tIns="0" rIns="0" bIns="0" rtlCol="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ZA" sz="2000" b="1" kern="1200" cap="all" spc="300" baseline="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dirty="0">
              <a:solidFill>
                <a:srgbClr val="FFFFFF"/>
              </a:solidFill>
            </a:endParaRPr>
          </a:p>
          <a:p>
            <a:r>
              <a:rPr lang="en-US" sz="3600" dirty="0">
                <a:solidFill>
                  <a:srgbClr val="FFFFFF"/>
                </a:solidFill>
              </a:rPr>
              <a:t>Hands on – Module 2</a:t>
            </a:r>
          </a:p>
          <a:p>
            <a:endParaRPr lang="en-US" sz="3600" dirty="0">
              <a:solidFill>
                <a:srgbClr val="FFFFFF"/>
              </a:solidFill>
            </a:endParaRPr>
          </a:p>
          <a:p>
            <a:endParaRPr lang="en-US" sz="3600" dirty="0">
              <a:solidFill>
                <a:srgbClr val="FFFFFF"/>
              </a:solidFill>
            </a:endParaRPr>
          </a:p>
          <a:p>
            <a:r>
              <a:rPr lang="en-US" sz="2400" dirty="0">
                <a:solidFill>
                  <a:srgbClr val="FFFFFF"/>
                </a:solidFill>
              </a:rPr>
              <a:t>Feature engineering </a:t>
            </a:r>
          </a:p>
        </p:txBody>
      </p:sp>
    </p:spTree>
    <p:extLst>
      <p:ext uri="{BB962C8B-B14F-4D97-AF65-F5344CB8AC3E}">
        <p14:creationId xmlns:p14="http://schemas.microsoft.com/office/powerpoint/2010/main" val="39213866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7A6B9-4501-1E91-8073-E86051830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E0ECF-889B-FDD4-9C7D-986265933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498" y="623042"/>
            <a:ext cx="10479024" cy="557784"/>
          </a:xfrm>
        </p:spPr>
        <p:txBody>
          <a:bodyPr/>
          <a:lstStyle/>
          <a:p>
            <a:r>
              <a:rPr lang="en-US" dirty="0"/>
              <a:t>Data manipulation 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06E67F-CDFF-A8B0-DDC6-135A90B0EC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D515E5-2AA0-A6D5-C75F-280642452EDC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Module – 2 </a:t>
            </a:r>
            <a:endParaRPr lang="en-IN" sz="1400" b="1" dirty="0">
              <a:solidFill>
                <a:schemeClr val="lt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5E0C59-6AE7-D38E-7E37-3E3B3575C44C}"/>
              </a:ext>
            </a:extLst>
          </p:cNvPr>
          <p:cNvSpPr txBox="1"/>
          <p:nvPr/>
        </p:nvSpPr>
        <p:spPr>
          <a:xfrm>
            <a:off x="4775072" y="5473254"/>
            <a:ext cx="6230875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IN" sz="1200" i="1" dirty="0"/>
              <a:t>Translating and merging of the datasets requires an understanding of the real world data </a:t>
            </a:r>
          </a:p>
        </p:txBody>
      </p:sp>
      <p:pic>
        <p:nvPicPr>
          <p:cNvPr id="3" name="Picture 2" descr="6.1 Vector Data Models – Geographic Information Technologies">
            <a:extLst>
              <a:ext uri="{FF2B5EF4-FFF2-40B4-BE49-F238E27FC236}">
                <a16:creationId xmlns:a16="http://schemas.microsoft.com/office/drawing/2014/main" id="{6A5344D8-9CCF-04AC-D652-62835D231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632" y="1364489"/>
            <a:ext cx="3782910" cy="5164933"/>
          </a:xfrm>
          <a:prstGeom prst="rect">
            <a:avLst/>
          </a:prstGeom>
        </p:spPr>
      </p:pic>
      <p:pic>
        <p:nvPicPr>
          <p:cNvPr id="6" name="Picture 5" descr="🛰️ Raster or Vector? Choosing the Right Data Makes All the Difference!🌍  In GIS &amp; Remote Sensing, understanding the difference between Raster and  Vector data is essential for accurate mapping and spatial">
            <a:extLst>
              <a:ext uri="{FF2B5EF4-FFF2-40B4-BE49-F238E27FC236}">
                <a16:creationId xmlns:a16="http://schemas.microsoft.com/office/drawing/2014/main" id="{F79EADE0-278B-CD98-4E1B-EC53270A56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870" b="40961"/>
          <a:stretch>
            <a:fillRect/>
          </a:stretch>
        </p:blipFill>
        <p:spPr>
          <a:xfrm>
            <a:off x="4724689" y="1384746"/>
            <a:ext cx="5628986" cy="3655186"/>
          </a:xfrm>
          <a:prstGeom prst="rect">
            <a:avLst/>
          </a:pr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B35D5F96-D0B0-D545-5477-01E2B01B11A7}"/>
              </a:ext>
            </a:extLst>
          </p:cNvPr>
          <p:cNvSpPr/>
          <p:nvPr/>
        </p:nvSpPr>
        <p:spPr>
          <a:xfrm rot="5400000">
            <a:off x="3981965" y="3121852"/>
            <a:ext cx="876300" cy="180975"/>
          </a:xfrm>
          <a:prstGeom prst="triangl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051371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39691-7A5A-EB7A-2E43-568E766E5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488F6-54BE-F9EB-6B89-2FD655C88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498" y="623042"/>
            <a:ext cx="10479024" cy="557784"/>
          </a:xfrm>
        </p:spPr>
        <p:txBody>
          <a:bodyPr/>
          <a:lstStyle/>
          <a:p>
            <a:r>
              <a:rPr lang="en-US" dirty="0"/>
              <a:t>CREATING FEATURES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BB3D6-B646-38A3-25A9-965BD4B4B3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9B2394-E2D3-89BF-8622-5F75B82366F5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Module – 2 </a:t>
            </a:r>
            <a:endParaRPr lang="en-IN" sz="1400" b="1" dirty="0">
              <a:solidFill>
                <a:schemeClr val="lt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4AF7BB-4ED9-A532-1FB5-465613F8F5C2}"/>
              </a:ext>
            </a:extLst>
          </p:cNvPr>
          <p:cNvSpPr txBox="1"/>
          <p:nvPr/>
        </p:nvSpPr>
        <p:spPr>
          <a:xfrm>
            <a:off x="641350" y="5786509"/>
            <a:ext cx="9674353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IN" sz="1200" dirty="0"/>
              <a:t>Feature engineering adds physical meaning to spectral measurements giving ML models variables that describe what is happening on the ground.</a:t>
            </a:r>
            <a:endParaRPr lang="en-IN" sz="1200" i="1" dirty="0"/>
          </a:p>
        </p:txBody>
      </p:sp>
      <p:graphicFrame>
        <p:nvGraphicFramePr>
          <p:cNvPr id="11" name="Table Placeholder 2">
            <a:extLst>
              <a:ext uri="{FF2B5EF4-FFF2-40B4-BE49-F238E27FC236}">
                <a16:creationId xmlns:a16="http://schemas.microsoft.com/office/drawing/2014/main" id="{75CBC584-0DF7-369A-1E66-DDC01BBDB69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44874550"/>
              </p:ext>
            </p:extLst>
          </p:nvPr>
        </p:nvGraphicFramePr>
        <p:xfrm>
          <a:off x="641350" y="1289342"/>
          <a:ext cx="8769352" cy="406371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225550">
                  <a:extLst>
                    <a:ext uri="{9D8B030D-6E8A-4147-A177-3AD203B41FA5}">
                      <a16:colId xmlns:a16="http://schemas.microsoft.com/office/drawing/2014/main" val="30750867"/>
                    </a:ext>
                  </a:extLst>
                </a:gridCol>
                <a:gridCol w="3314700">
                  <a:extLst>
                    <a:ext uri="{9D8B030D-6E8A-4147-A177-3AD203B41FA5}">
                      <a16:colId xmlns:a16="http://schemas.microsoft.com/office/drawing/2014/main" val="1038941322"/>
                    </a:ext>
                  </a:extLst>
                </a:gridCol>
                <a:gridCol w="2036764">
                  <a:extLst>
                    <a:ext uri="{9D8B030D-6E8A-4147-A177-3AD203B41FA5}">
                      <a16:colId xmlns:a16="http://schemas.microsoft.com/office/drawing/2014/main" val="529645500"/>
                    </a:ext>
                  </a:extLst>
                </a:gridCol>
                <a:gridCol w="2192338">
                  <a:extLst>
                    <a:ext uri="{9D8B030D-6E8A-4147-A177-3AD203B41FA5}">
                      <a16:colId xmlns:a16="http://schemas.microsoft.com/office/drawing/2014/main" val="3469610457"/>
                    </a:ext>
                  </a:extLst>
                </a:gridCol>
              </a:tblGrid>
              <a:tr h="812742"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latin typeface="+mj-lt"/>
                        </a:rPr>
                        <a:t>Index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2000" b="0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2000" b="0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Primary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2000" b="0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Band calculation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432886"/>
                  </a:ext>
                </a:extLst>
              </a:tr>
              <a:tr h="812742"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1350" b="1" i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NDVI</a:t>
                      </a:r>
                      <a:endParaRPr lang="en-IN" sz="1350" b="0" i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1400" b="0" i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Normalized Difference Vegetation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1400" b="0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Vegetation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00000"/>
                        </a:lnSpc>
                        <a:buNone/>
                      </a:pPr>
                      <a:r>
                        <a:rPr lang="en-IN" sz="1400" b="1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NDVI = (NIR − Red) / (NIR + Red)</a:t>
                      </a:r>
                      <a:endParaRPr lang="en-IN" sz="1400" b="0" i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240625"/>
                  </a:ext>
                </a:extLst>
              </a:tr>
              <a:tr h="812742"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1350" b="1" i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NDWI</a:t>
                      </a:r>
                      <a:endParaRPr lang="en-IN" sz="1350" b="0" i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1400" b="0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Normalized Difference Water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1400" b="0" i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00000"/>
                        </a:lnSpc>
                        <a:buNone/>
                      </a:pPr>
                      <a:r>
                        <a:rPr lang="en-IN" sz="1400" b="1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NDWI = (Green – NIR) / (Green + NIR)</a:t>
                      </a:r>
                      <a:endParaRPr lang="en-IN" sz="1400" b="0" i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393470"/>
                  </a:ext>
                </a:extLst>
              </a:tr>
              <a:tr h="812742"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1350" b="1" i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NDBI</a:t>
                      </a:r>
                      <a:endParaRPr lang="en-IN" sz="1350" b="0" i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1400" b="0" i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Normalized Difference Built-up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1400" b="0" i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Built-up areas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00000"/>
                        </a:lnSpc>
                        <a:buNone/>
                      </a:pPr>
                      <a:r>
                        <a:rPr lang="en-IN" sz="1400" b="1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NDBI = (SWIR − NIR) / (SWIR + NIR)</a:t>
                      </a:r>
                      <a:endParaRPr lang="en-IN" sz="1400" b="0" i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364400"/>
                  </a:ext>
                </a:extLst>
              </a:tr>
              <a:tr h="812742"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1350" b="1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SAVI</a:t>
                      </a:r>
                      <a:endParaRPr lang="en-IN" sz="1350" b="0" i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1400" b="0" i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Soil Adjusted Vegetation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25000"/>
                        </a:lnSpc>
                        <a:buNone/>
                      </a:pPr>
                      <a:r>
                        <a:rPr lang="en-IN" sz="1400" b="0" i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Vegetation with soil influence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 fontAlgn="base">
                        <a:lnSpc>
                          <a:spcPct val="100000"/>
                        </a:lnSpc>
                        <a:buNone/>
                      </a:pPr>
                      <a:r>
                        <a:rPr lang="en-IN" sz="1400" b="1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SAVI = [(NIR − Red) / (NIR + Red + L)] × (1 + L)</a:t>
                      </a:r>
                      <a:endParaRPr lang="en-IN" sz="1400" b="0" i="0" kern="1200" dirty="0">
                        <a:solidFill>
                          <a:srgbClr val="000000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263980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DBF8AE40-F8CB-F786-BCCF-02382BD1731D}"/>
              </a:ext>
            </a:extLst>
          </p:cNvPr>
          <p:cNvSpPr txBox="1"/>
          <p:nvPr/>
        </p:nvSpPr>
        <p:spPr>
          <a:xfrm>
            <a:off x="641350" y="6252423"/>
            <a:ext cx="9674353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Index-based approach is usually applied together with classification methods, spectral analysis, field surveys, or other remote sensing data.</a:t>
            </a:r>
            <a:endParaRPr lang="en-IN" sz="1200" i="1" dirty="0"/>
          </a:p>
        </p:txBody>
      </p:sp>
    </p:spTree>
    <p:extLst>
      <p:ext uri="{BB962C8B-B14F-4D97-AF65-F5344CB8AC3E}">
        <p14:creationId xmlns:p14="http://schemas.microsoft.com/office/powerpoint/2010/main" val="3767849017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00ABE-08E1-F930-A285-043F131FD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35092-8683-EB3B-3C9E-2F496D978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498" y="623042"/>
            <a:ext cx="10479024" cy="557784"/>
          </a:xfrm>
        </p:spPr>
        <p:txBody>
          <a:bodyPr/>
          <a:lstStyle/>
          <a:p>
            <a:r>
              <a:rPr lang="en-US" dirty="0"/>
              <a:t>downscaling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451E33-D170-F58A-DC46-40D8B9786DB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04F2C0-A9CD-0159-07E0-F28211B451F0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Module – 2 </a:t>
            </a:r>
            <a:endParaRPr lang="en-IN" sz="1400" b="1" dirty="0">
              <a:solidFill>
                <a:schemeClr val="lt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1D84A0-B296-3B95-0BD6-AD5B6FDF5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142" y="1926563"/>
            <a:ext cx="6842284" cy="2149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96825C-7FC3-4D0D-BF66-15D8C1892773}"/>
              </a:ext>
            </a:extLst>
          </p:cNvPr>
          <p:cNvSpPr txBox="1"/>
          <p:nvPr/>
        </p:nvSpPr>
        <p:spPr>
          <a:xfrm>
            <a:off x="447675" y="1236092"/>
            <a:ext cx="83554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i="1" dirty="0"/>
              <a:t>Classification models are trained on a higher resolution using spatial features and scaled to lower resolutions 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61D44791-04C8-DD39-34A6-3A5FAEBB7DF7}"/>
              </a:ext>
            </a:extLst>
          </p:cNvPr>
          <p:cNvSpPr/>
          <p:nvPr/>
        </p:nvSpPr>
        <p:spPr>
          <a:xfrm rot="10800000">
            <a:off x="3172340" y="1635364"/>
            <a:ext cx="876300" cy="180975"/>
          </a:xfrm>
          <a:prstGeom prst="triangl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lt1"/>
              </a:solidFill>
            </a:endParaRPr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13E5B0BD-44BB-6EED-8B04-C656FB03B7BE}"/>
              </a:ext>
            </a:extLst>
          </p:cNvPr>
          <p:cNvSpPr/>
          <p:nvPr/>
        </p:nvSpPr>
        <p:spPr>
          <a:xfrm rot="10800000">
            <a:off x="7401440" y="1690322"/>
            <a:ext cx="876300" cy="180975"/>
          </a:xfrm>
          <a:prstGeom prst="triangl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lt1"/>
              </a:solidFill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C3F4BCD-9A7C-6EEF-DDB2-1DA481D3C8DB}"/>
              </a:ext>
            </a:extLst>
          </p:cNvPr>
          <p:cNvGrpSpPr/>
          <p:nvPr/>
        </p:nvGrpSpPr>
        <p:grpSpPr>
          <a:xfrm>
            <a:off x="716701" y="4631095"/>
            <a:ext cx="10589474" cy="1153982"/>
            <a:chOff x="750094" y="4104442"/>
            <a:chExt cx="10589474" cy="1153982"/>
          </a:xfrm>
          <a:solidFill>
            <a:schemeClr val="bg1"/>
          </a:solidFill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0455397-E1B6-BE65-44B4-CBEBE915CBCD}"/>
                </a:ext>
              </a:extLst>
            </p:cNvPr>
            <p:cNvSpPr txBox="1"/>
            <p:nvPr/>
          </p:nvSpPr>
          <p:spPr>
            <a:xfrm>
              <a:off x="750094" y="4104442"/>
              <a:ext cx="6262686" cy="276999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r>
                <a:rPr lang="en-IN" sz="1200" dirty="0"/>
                <a:t>X=[NDVI, NDBI, NDWI, DEM, LULC, Building Density,…]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E38C16F-6BF8-656B-064E-32A0D9327949}"/>
                </a:ext>
              </a:extLst>
            </p:cNvPr>
            <p:cNvSpPr txBox="1"/>
            <p:nvPr/>
          </p:nvSpPr>
          <p:spPr>
            <a:xfrm>
              <a:off x="750094" y="4458205"/>
              <a:ext cx="6262686" cy="461665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r>
                <a:rPr lang="en-IN" sz="1200" dirty="0"/>
                <a:t>y=LST (120m) </a:t>
              </a:r>
            </a:p>
            <a:p>
              <a:r>
                <a:rPr lang="en-IN" sz="1200" dirty="0"/>
                <a:t>y^​=f(X)​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F119027-896A-1E9B-D6BC-7DEAF3EF8244}"/>
                </a:ext>
              </a:extLst>
            </p:cNvPr>
            <p:cNvSpPr txBox="1"/>
            <p:nvPr/>
          </p:nvSpPr>
          <p:spPr>
            <a:xfrm>
              <a:off x="755998" y="4981425"/>
              <a:ext cx="10583570" cy="276999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IN" sz="1200" dirty="0"/>
                <a:t>Then apply the learned relationship using the 10 m predictors to generate: LST10m​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69741763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F73FA-FBED-5A96-A6F2-9251038E7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F464D-DD14-60C2-83CD-63DDBCAD6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33C5DE-35F6-2160-E02F-9B0B2E69CE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28F07C-C932-9D7A-2B97-5F3444B26F55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Module – 2 </a:t>
            </a:r>
            <a:endParaRPr lang="en-IN" sz="1400" b="1" dirty="0">
              <a:solidFill>
                <a:schemeClr val="lt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6588231-04AC-57B4-C009-78034F7B9E46}"/>
              </a:ext>
            </a:extLst>
          </p:cNvPr>
          <p:cNvGrpSpPr/>
          <p:nvPr/>
        </p:nvGrpSpPr>
        <p:grpSpPr>
          <a:xfrm>
            <a:off x="180976" y="2219324"/>
            <a:ext cx="11744323" cy="2295525"/>
            <a:chOff x="323851" y="2076449"/>
            <a:chExt cx="11744323" cy="2295525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5CA6CA8F-1DF2-6F2B-11DB-73593990B146}"/>
                </a:ext>
              </a:extLst>
            </p:cNvPr>
            <p:cNvSpPr/>
            <p:nvPr/>
          </p:nvSpPr>
          <p:spPr>
            <a:xfrm>
              <a:off x="323851" y="2076449"/>
              <a:ext cx="3790950" cy="229552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IN" sz="1400" dirty="0">
                  <a:solidFill>
                    <a:schemeClr val="tx1"/>
                  </a:solidFill>
                </a:rPr>
                <a:t>Urban heat intelligence</a:t>
              </a:r>
            </a:p>
            <a:p>
              <a:endParaRPr lang="en-IN" sz="1400" dirty="0">
                <a:solidFill>
                  <a:schemeClr val="tx1"/>
                </a:solidFill>
              </a:endParaRPr>
            </a:p>
            <a:p>
              <a:r>
                <a:rPr lang="en-IN" sz="1400" b="1" dirty="0">
                  <a:solidFill>
                    <a:schemeClr val="tx1"/>
                  </a:solidFill>
                </a:rPr>
                <a:t>10 m LST + buildings + population + land use</a:t>
              </a:r>
            </a:p>
            <a:p>
              <a:endParaRPr lang="en-IN" sz="1400" dirty="0">
                <a:solidFill>
                  <a:schemeClr val="tx1"/>
                </a:solidFill>
              </a:endParaRPr>
            </a:p>
            <a:p>
              <a:r>
                <a:rPr lang="en-IN" sz="1400" dirty="0">
                  <a:solidFill>
                    <a:schemeClr val="tx1"/>
                  </a:solidFill>
                </a:rPr>
                <a:t>→ Heat hotspots</a:t>
              </a:r>
              <a:br>
                <a:rPr lang="en-IN" sz="1400" dirty="0">
                  <a:solidFill>
                    <a:schemeClr val="tx1"/>
                  </a:solidFill>
                </a:rPr>
              </a:br>
              <a:r>
                <a:rPr lang="en-IN" sz="1400" dirty="0">
                  <a:solidFill>
                    <a:schemeClr val="tx1"/>
                  </a:solidFill>
                </a:rPr>
                <a:t>→ Heat inequality / exposure</a:t>
              </a:r>
              <a:br>
                <a:rPr lang="en-IN" sz="1400" dirty="0">
                  <a:solidFill>
                    <a:schemeClr val="tx1"/>
                  </a:solidFill>
                </a:rPr>
              </a:br>
              <a:r>
                <a:rPr lang="en-IN" sz="1400" dirty="0">
                  <a:solidFill>
                    <a:schemeClr val="tx1"/>
                  </a:solidFill>
                </a:rPr>
                <a:t>→ Cooling-priority zones</a:t>
              </a:r>
              <a:br>
                <a:rPr lang="en-IN" sz="1400" dirty="0">
                  <a:solidFill>
                    <a:schemeClr val="tx1"/>
                  </a:solidFill>
                </a:rPr>
              </a:br>
              <a:r>
                <a:rPr lang="en-IN" sz="1400" dirty="0">
                  <a:solidFill>
                    <a:schemeClr val="tx1"/>
                  </a:solidFill>
                </a:rPr>
                <a:t>→ Urban greening optimisation</a:t>
              </a:r>
            </a:p>
            <a:p>
              <a:endParaRPr lang="en-IN" sz="1400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07686CC-1059-CA02-88D4-5B680C7911FE}"/>
                </a:ext>
              </a:extLst>
            </p:cNvPr>
            <p:cNvSpPr/>
            <p:nvPr/>
          </p:nvSpPr>
          <p:spPr>
            <a:xfrm>
              <a:off x="4295775" y="2076449"/>
              <a:ext cx="3695700" cy="229552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IN" sz="1400" dirty="0">
                  <a:solidFill>
                    <a:schemeClr val="tx1"/>
                  </a:solidFill>
                </a:rPr>
                <a:t>Crop water stress</a:t>
              </a:r>
            </a:p>
            <a:p>
              <a:endParaRPr lang="en-IN" sz="1400" dirty="0">
                <a:solidFill>
                  <a:schemeClr val="tx1"/>
                </a:solidFill>
              </a:endParaRPr>
            </a:p>
            <a:p>
              <a:r>
                <a:rPr lang="en-IN" sz="1400" b="1" dirty="0">
                  <a:solidFill>
                    <a:schemeClr val="tx1"/>
                  </a:solidFill>
                </a:rPr>
                <a:t>Fine LST + NDVI/vegetation + soil moisture</a:t>
              </a:r>
            </a:p>
            <a:p>
              <a:endParaRPr lang="en-IN" sz="1400" dirty="0">
                <a:solidFill>
                  <a:schemeClr val="tx1"/>
                </a:solidFill>
              </a:endParaRPr>
            </a:p>
            <a:p>
              <a:r>
                <a:rPr lang="en-IN" sz="1400" dirty="0">
                  <a:solidFill>
                    <a:schemeClr val="tx1"/>
                  </a:solidFill>
                </a:rPr>
                <a:t>→ Crop thermal stress</a:t>
              </a:r>
              <a:br>
                <a:rPr lang="en-IN" sz="1400" dirty="0">
                  <a:solidFill>
                    <a:schemeClr val="tx1"/>
                  </a:solidFill>
                </a:rPr>
              </a:br>
              <a:r>
                <a:rPr lang="en-IN" sz="1400" dirty="0">
                  <a:solidFill>
                    <a:schemeClr val="tx1"/>
                  </a:solidFill>
                </a:rPr>
                <a:t>→ Irrigation requirement</a:t>
              </a:r>
              <a:br>
                <a:rPr lang="en-IN" sz="1400" dirty="0">
                  <a:solidFill>
                    <a:schemeClr val="tx1"/>
                  </a:solidFill>
                </a:rPr>
              </a:br>
              <a:r>
                <a:rPr lang="en-IN" sz="1400" dirty="0">
                  <a:solidFill>
                    <a:schemeClr val="tx1"/>
                  </a:solidFill>
                </a:rPr>
                <a:t>→ Evapotranspiration estimation</a:t>
              </a:r>
              <a:br>
                <a:rPr lang="en-IN" sz="1400" dirty="0">
                  <a:solidFill>
                    <a:schemeClr val="tx1"/>
                  </a:solidFill>
                </a:rPr>
              </a:br>
              <a:r>
                <a:rPr lang="en-IN" sz="1400" dirty="0">
                  <a:solidFill>
                    <a:schemeClr val="tx1"/>
                  </a:solidFill>
                </a:rPr>
                <a:t>→ Yield/stress prediction</a:t>
              </a:r>
            </a:p>
            <a:p>
              <a:endParaRPr lang="en-IN" sz="14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73833900-4DFA-F8CF-8906-BE43A128D45B}"/>
                </a:ext>
              </a:extLst>
            </p:cNvPr>
            <p:cNvSpPr/>
            <p:nvPr/>
          </p:nvSpPr>
          <p:spPr>
            <a:xfrm>
              <a:off x="8172449" y="2076449"/>
              <a:ext cx="3895725" cy="229552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IN" sz="1400" dirty="0">
                  <a:solidFill>
                    <a:schemeClr val="tx1"/>
                  </a:solidFill>
                </a:rPr>
                <a:t>Wildfire Risk </a:t>
              </a:r>
            </a:p>
            <a:p>
              <a:endParaRPr lang="en-IN" sz="1400" b="1" dirty="0">
                <a:solidFill>
                  <a:schemeClr val="tx1"/>
                </a:solidFill>
              </a:endParaRPr>
            </a:p>
            <a:p>
              <a:r>
                <a:rPr lang="en-IN" sz="1400" b="1" dirty="0">
                  <a:solidFill>
                    <a:schemeClr val="tx1"/>
                  </a:solidFill>
                </a:rPr>
                <a:t>Fine LST + vegetation + drought + fuel + terrain</a:t>
              </a:r>
            </a:p>
            <a:p>
              <a:endParaRPr lang="en-IN" sz="1400" b="1" dirty="0">
                <a:solidFill>
                  <a:schemeClr val="tx1"/>
                </a:solidFill>
              </a:endParaRPr>
            </a:p>
            <a:p>
              <a:r>
                <a:rPr lang="en-IN" sz="1400" dirty="0">
                  <a:solidFill>
                    <a:schemeClr val="tx1"/>
                  </a:solidFill>
                </a:rPr>
                <a:t>→ Hot/dry zones</a:t>
              </a:r>
              <a:br>
                <a:rPr lang="en-IN" sz="1400" dirty="0">
                  <a:solidFill>
                    <a:schemeClr val="tx1"/>
                  </a:solidFill>
                </a:rPr>
              </a:br>
              <a:r>
                <a:rPr lang="en-IN" sz="1400" dirty="0">
                  <a:solidFill>
                    <a:schemeClr val="tx1"/>
                  </a:solidFill>
                </a:rPr>
                <a:t>→ Pre-fire vegetation stress</a:t>
              </a:r>
              <a:br>
                <a:rPr lang="en-IN" sz="1400" dirty="0">
                  <a:solidFill>
                    <a:schemeClr val="tx1"/>
                  </a:solidFill>
                </a:rPr>
              </a:br>
              <a:r>
                <a:rPr lang="en-IN" sz="1400" dirty="0">
                  <a:solidFill>
                    <a:schemeClr val="tx1"/>
                  </a:solidFill>
                </a:rPr>
                <a:t>→ Fire susceptibility</a:t>
              </a:r>
              <a:br>
                <a:rPr lang="en-IN" sz="1400" dirty="0">
                  <a:solidFill>
                    <a:schemeClr val="tx1"/>
                  </a:solidFill>
                </a:rPr>
              </a:br>
              <a:r>
                <a:rPr lang="en-IN" sz="1400" dirty="0">
                  <a:solidFill>
                    <a:schemeClr val="tx1"/>
                  </a:solidFill>
                </a:rPr>
                <a:t>→ Post-fire damage assessment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393057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34BA4-7312-F0B4-4750-2DA7D2B91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>
            <a:extLst>
              <a:ext uri="{FF2B5EF4-FFF2-40B4-BE49-F238E27FC236}">
                <a16:creationId xmlns:a16="http://schemas.microsoft.com/office/drawing/2014/main" id="{2C885120-C4DA-828B-BA71-D6FD19425356}"/>
              </a:ext>
            </a:extLst>
          </p:cNvPr>
          <p:cNvSpPr txBox="1">
            <a:spLocks/>
          </p:cNvSpPr>
          <p:nvPr/>
        </p:nvSpPr>
        <p:spPr>
          <a:xfrm>
            <a:off x="4690349" y="2171700"/>
            <a:ext cx="7501651" cy="2038350"/>
          </a:xfrm>
          <a:prstGeom prst="rect">
            <a:avLst/>
          </a:prstGeom>
          <a:solidFill>
            <a:srgbClr val="0070C0"/>
          </a:solidFill>
        </p:spPr>
        <p:txBody>
          <a:bodyPr vert="horz" lIns="0" tIns="0" rIns="0" bIns="0" rtlCol="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ZA" sz="2000" b="1" kern="1200" cap="all" spc="300" baseline="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dirty="0">
              <a:solidFill>
                <a:srgbClr val="FFFFFF"/>
              </a:solidFill>
            </a:endParaRPr>
          </a:p>
          <a:p>
            <a:r>
              <a:rPr lang="en-US" sz="3600" dirty="0">
                <a:solidFill>
                  <a:srgbClr val="FFFFFF"/>
                </a:solidFill>
              </a:rPr>
              <a:t>Hands on – Module 3</a:t>
            </a:r>
          </a:p>
          <a:p>
            <a:endParaRPr lang="en-US" sz="3600" dirty="0">
              <a:solidFill>
                <a:srgbClr val="FFFFFF"/>
              </a:solidFill>
            </a:endParaRPr>
          </a:p>
          <a:p>
            <a:endParaRPr lang="en-US" sz="3600" dirty="0">
              <a:solidFill>
                <a:srgbClr val="FFFFFF"/>
              </a:solidFill>
            </a:endParaRPr>
          </a:p>
          <a:p>
            <a:r>
              <a:rPr lang="en-US" sz="2400" dirty="0" err="1">
                <a:solidFill>
                  <a:srgbClr val="FFFFFF"/>
                </a:solidFill>
              </a:rPr>
              <a:t>Geoai</a:t>
            </a:r>
            <a:r>
              <a:rPr lang="en-US" sz="2400" dirty="0">
                <a:solidFill>
                  <a:srgbClr val="FFFFFF"/>
                </a:solidFill>
              </a:rPr>
              <a:t> foundation model </a:t>
            </a:r>
          </a:p>
        </p:txBody>
      </p:sp>
    </p:spTree>
    <p:extLst>
      <p:ext uri="{BB962C8B-B14F-4D97-AF65-F5344CB8AC3E}">
        <p14:creationId xmlns:p14="http://schemas.microsoft.com/office/powerpoint/2010/main" val="330062186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73E44-C870-1CD1-B267-C81686B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49790-4F7B-D8F5-AEFD-54EB4848C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Geoai</a:t>
            </a:r>
            <a:r>
              <a:rPr lang="en-US" dirty="0"/>
              <a:t> EMBEDDINGS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97BF8-97EA-CCB1-1996-9DD738D054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2D765-8E9A-5B89-B420-2949DAC0871F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Module – 3 </a:t>
            </a:r>
            <a:endParaRPr lang="en-IN" sz="1400" b="1" dirty="0">
              <a:solidFill>
                <a:schemeClr val="lt1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C341AB5-434B-94D1-8435-FC0875D62F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022" b="11488"/>
          <a:stretch>
            <a:fillRect/>
          </a:stretch>
        </p:blipFill>
        <p:spPr>
          <a:xfrm>
            <a:off x="509049" y="1626992"/>
            <a:ext cx="10811223" cy="43897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E9C254-9AA9-62FC-211A-0884FCF03F49}"/>
              </a:ext>
            </a:extLst>
          </p:cNvPr>
          <p:cNvSpPr txBox="1"/>
          <p:nvPr/>
        </p:nvSpPr>
        <p:spPr>
          <a:xfrm>
            <a:off x="584073" y="1666547"/>
            <a:ext cx="7578852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200" dirty="0"/>
              <a:t>A normal pixel might be: </a:t>
            </a:r>
            <a:r>
              <a:rPr lang="en-IN" sz="1200" b="1" dirty="0"/>
              <a:t>Red = 0.18, Green = 0.24, NIR = 0.51</a:t>
            </a:r>
            <a:endParaRPr lang="en-IN" sz="1200" dirty="0"/>
          </a:p>
          <a:p>
            <a:pPr>
              <a:buNone/>
            </a:pPr>
            <a:r>
              <a:rPr lang="en-IN" sz="1200" dirty="0"/>
              <a:t>An EO foundation model turns the observations into something more like:     </a:t>
            </a:r>
            <a:r>
              <a:rPr lang="en-IN" sz="1200" b="1" dirty="0"/>
              <a:t>[0.21, −0.07, 0.43, …, 0.63]</a:t>
            </a:r>
            <a:endParaRPr lang="en-IN" sz="1200" dirty="0"/>
          </a:p>
        </p:txBody>
      </p:sp>
    </p:spTree>
    <p:extLst>
      <p:ext uri="{BB962C8B-B14F-4D97-AF65-F5344CB8AC3E}">
        <p14:creationId xmlns:p14="http://schemas.microsoft.com/office/powerpoint/2010/main" val="343241011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6F643-9DF2-B730-72CE-75663E4FF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Geoai</a:t>
            </a:r>
            <a:r>
              <a:rPr lang="en-US" dirty="0"/>
              <a:t> foundation models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5AA3C-075D-E8DD-D48B-DA9E07CBE0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74AA1F-C0C3-B0F2-5904-819D78420A48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Module – 3 </a:t>
            </a:r>
            <a:endParaRPr lang="en-IN" sz="1400" b="1" dirty="0">
              <a:solidFill>
                <a:schemeClr val="lt1"/>
              </a:solidFill>
            </a:endParaRP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793E0D93-64B0-8056-059C-476481DF0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3354181"/>
              </p:ext>
            </p:extLst>
          </p:nvPr>
        </p:nvGraphicFramePr>
        <p:xfrm>
          <a:off x="759716" y="1824145"/>
          <a:ext cx="10158220" cy="4136163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2031644">
                  <a:extLst>
                    <a:ext uri="{9D8B030D-6E8A-4147-A177-3AD203B41FA5}">
                      <a16:colId xmlns:a16="http://schemas.microsoft.com/office/drawing/2014/main" val="697277011"/>
                    </a:ext>
                  </a:extLst>
                </a:gridCol>
                <a:gridCol w="2031644">
                  <a:extLst>
                    <a:ext uri="{9D8B030D-6E8A-4147-A177-3AD203B41FA5}">
                      <a16:colId xmlns:a16="http://schemas.microsoft.com/office/drawing/2014/main" val="316037852"/>
                    </a:ext>
                  </a:extLst>
                </a:gridCol>
                <a:gridCol w="2031644">
                  <a:extLst>
                    <a:ext uri="{9D8B030D-6E8A-4147-A177-3AD203B41FA5}">
                      <a16:colId xmlns:a16="http://schemas.microsoft.com/office/drawing/2014/main" val="3268917687"/>
                    </a:ext>
                  </a:extLst>
                </a:gridCol>
                <a:gridCol w="2031644">
                  <a:extLst>
                    <a:ext uri="{9D8B030D-6E8A-4147-A177-3AD203B41FA5}">
                      <a16:colId xmlns:a16="http://schemas.microsoft.com/office/drawing/2014/main" val="3609995522"/>
                    </a:ext>
                  </a:extLst>
                </a:gridCol>
                <a:gridCol w="2031644">
                  <a:extLst>
                    <a:ext uri="{9D8B030D-6E8A-4147-A177-3AD203B41FA5}">
                      <a16:colId xmlns:a16="http://schemas.microsoft.com/office/drawing/2014/main" val="2454789105"/>
                    </a:ext>
                  </a:extLst>
                </a:gridCol>
              </a:tblGrid>
              <a:tr h="402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 dirty="0"/>
                        <a:t>Model</a:t>
                      </a:r>
                    </a:p>
                  </a:txBody>
                  <a:tcPr marL="63781" marR="63781" marT="31891" marB="31891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 dirty="0"/>
                        <a:t>Main data / resolution</a:t>
                      </a:r>
                    </a:p>
                  </a:txBody>
                  <a:tcPr marL="63781" marR="63781" marT="31891" marB="31891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 dirty="0"/>
                        <a:t>What it learns</a:t>
                      </a:r>
                    </a:p>
                  </a:txBody>
                  <a:tcPr marL="63781" marR="63781" marT="31891" marB="31891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 dirty="0"/>
                        <a:t>Good downstream uses</a:t>
                      </a:r>
                    </a:p>
                  </a:txBody>
                  <a:tcPr marL="63781" marR="63781" marT="31891" marB="31891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 dirty="0"/>
                        <a:t>Open?</a:t>
                      </a:r>
                    </a:p>
                  </a:txBody>
                  <a:tcPr marL="63781" marR="63781" marT="31891" marB="31891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922578"/>
                  </a:ext>
                </a:extLst>
              </a:tr>
              <a:tr h="7481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TESSERA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Sentinel-1 + Sentinel-2; 10 m; annual temporal representation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Pixel-wise Earth representation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Crop classification, ecosystem mapping, regression, similarity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Yes</a:t>
                      </a:r>
                    </a:p>
                  </a:txBody>
                  <a:tcPr marL="63781" marR="63781" marT="31891" marB="31891" anchor="ctr"/>
                </a:tc>
                <a:extLst>
                  <a:ext uri="{0D108BD9-81ED-4DB2-BD59-A6C34878D82A}">
                    <a16:rowId xmlns:a16="http://schemas.microsoft.com/office/drawing/2014/main" val="4059800634"/>
                  </a:ext>
                </a:extLst>
              </a:tr>
              <a:tr h="5938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AlphaEarth Foundations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Multi-source EO; 10 m; annual embeddings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64-D representation of spatial + temporal Earth context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Classification, regression, change detection, similarity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Embeddings available</a:t>
                      </a:r>
                    </a:p>
                  </a:txBody>
                  <a:tcPr marL="63781" marR="63781" marT="31891" marB="31891" anchor="ctr"/>
                </a:tc>
                <a:extLst>
                  <a:ext uri="{0D108BD9-81ED-4DB2-BD59-A6C34878D82A}">
                    <a16:rowId xmlns:a16="http://schemas.microsoft.com/office/drawing/2014/main" val="112320723"/>
                  </a:ext>
                </a:extLst>
              </a:tr>
              <a:tr h="5938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Prithvi-EO-2.0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Harmonized Landsat + Sentinel-2; 30 m; multi-temporal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Spatiotemporal EO representation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Land cover, crop mapping, flood, burn scars, segmentation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Yes</a:t>
                      </a:r>
                    </a:p>
                  </a:txBody>
                  <a:tcPr marL="63781" marR="63781" marT="31891" marB="31891" anchor="ctr"/>
                </a:tc>
                <a:extLst>
                  <a:ext uri="{0D108BD9-81ED-4DB2-BD59-A6C34878D82A}">
                    <a16:rowId xmlns:a16="http://schemas.microsoft.com/office/drawing/2014/main" val="2755016355"/>
                  </a:ext>
                </a:extLst>
              </a:tr>
              <a:tr h="9207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Clay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Sentinel-1/2 + other EO; spatial + temporal metadata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General Earth representation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Classification, regression, embeddings, environmental applications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Open source</a:t>
                      </a:r>
                    </a:p>
                  </a:txBody>
                  <a:tcPr marL="63781" marR="63781" marT="31891" marB="31891" anchor="ctr"/>
                </a:tc>
                <a:extLst>
                  <a:ext uri="{0D108BD9-81ED-4DB2-BD59-A6C34878D82A}">
                    <a16:rowId xmlns:a16="http://schemas.microsoft.com/office/drawing/2014/main" val="2235083287"/>
                  </a:ext>
                </a:extLst>
              </a:tr>
              <a:tr h="7481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SatMAE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Satellite imagery; multi-temporal/multispectral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Masked-autoencoder representation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Classification, segmentation, transfer learning</a:t>
                      </a:r>
                    </a:p>
                  </a:txBody>
                  <a:tcPr marL="63781" marR="63781" marT="31891" marB="318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Research/open</a:t>
                      </a:r>
                    </a:p>
                  </a:txBody>
                  <a:tcPr marL="63781" marR="63781" marT="31891" marB="31891" anchor="ctr"/>
                </a:tc>
                <a:extLst>
                  <a:ext uri="{0D108BD9-81ED-4DB2-BD59-A6C34878D82A}">
                    <a16:rowId xmlns:a16="http://schemas.microsoft.com/office/drawing/2014/main" val="42862463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8281240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F2644-35B8-61D4-5591-7759F933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5F364-65D8-7151-BE83-168834E5E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EMBEDDINGS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5ED389-2070-936A-25D5-DAF4A5A54A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5EA91A-AA06-1C7D-F202-BAA47F774FC1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Module – 3 </a:t>
            </a:r>
            <a:endParaRPr lang="en-IN" sz="1400" b="1" dirty="0">
              <a:solidFill>
                <a:schemeClr val="lt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F624EA-4227-6EBE-D47F-B986EA5EDF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210" b="26004"/>
          <a:stretch>
            <a:fillRect/>
          </a:stretch>
        </p:blipFill>
        <p:spPr>
          <a:xfrm>
            <a:off x="0" y="2612571"/>
            <a:ext cx="12192000" cy="4245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87866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86919-AED8-445F-C9D7-B303D7EAF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D71E2-A242-E796-EEDC-A5C686C86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Downstream applications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CD451-80BD-6EE8-9031-3231E64B3F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AFA22A-0F71-AA61-782A-11F023D72FB9}"/>
              </a:ext>
            </a:extLst>
          </p:cNvPr>
          <p:cNvSpPr/>
          <p:nvPr/>
        </p:nvSpPr>
        <p:spPr>
          <a:xfrm>
            <a:off x="10420350" y="0"/>
            <a:ext cx="1771650" cy="3429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Module – 3 </a:t>
            </a:r>
            <a:endParaRPr lang="en-IN" sz="1400" b="1" dirty="0">
              <a:solidFill>
                <a:schemeClr val="lt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C10399-CCB2-4B48-1F32-2EB317FD9E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275" r="50294" b="43243"/>
          <a:stretch>
            <a:fillRect/>
          </a:stretch>
        </p:blipFill>
        <p:spPr>
          <a:xfrm>
            <a:off x="421680" y="1412180"/>
            <a:ext cx="5674320" cy="20168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15E341-9679-A5EB-7327-C412AD4A55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706" t="55887"/>
          <a:stretch>
            <a:fillRect/>
          </a:stretch>
        </p:blipFill>
        <p:spPr>
          <a:xfrm>
            <a:off x="6215450" y="3612776"/>
            <a:ext cx="5788291" cy="208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3BB750C-0093-E1B7-FE04-D7F991ECFE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779" t="9278" r="515" b="43127"/>
          <a:stretch>
            <a:fillRect/>
          </a:stretch>
        </p:blipFill>
        <p:spPr>
          <a:xfrm>
            <a:off x="6215450" y="1412180"/>
            <a:ext cx="5660670" cy="20168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DE056C0-BE22-1AF2-EB3C-6744A08A1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680" y="3621489"/>
            <a:ext cx="5674320" cy="20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12697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0F36D-5901-D353-2D66-001E5694B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>
            <a:extLst>
              <a:ext uri="{FF2B5EF4-FFF2-40B4-BE49-F238E27FC236}">
                <a16:creationId xmlns:a16="http://schemas.microsoft.com/office/drawing/2014/main" id="{9AC6BD5D-8B43-C923-35D4-A7A092171C78}"/>
              </a:ext>
            </a:extLst>
          </p:cNvPr>
          <p:cNvSpPr txBox="1">
            <a:spLocks/>
          </p:cNvSpPr>
          <p:nvPr/>
        </p:nvSpPr>
        <p:spPr>
          <a:xfrm>
            <a:off x="4690349" y="2171700"/>
            <a:ext cx="7501651" cy="2038350"/>
          </a:xfrm>
          <a:prstGeom prst="rect">
            <a:avLst/>
          </a:prstGeom>
          <a:solidFill>
            <a:srgbClr val="0070C0"/>
          </a:solidFill>
        </p:spPr>
        <p:txBody>
          <a:bodyPr vert="horz" lIns="0" tIns="0" rIns="0" bIns="0" rtlCol="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ZA" sz="2000" b="1" kern="1200" cap="all" spc="300" baseline="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dirty="0">
              <a:solidFill>
                <a:srgbClr val="FFFFFF"/>
              </a:solidFill>
            </a:endParaRPr>
          </a:p>
          <a:p>
            <a:r>
              <a:rPr lang="en-US" sz="3600" dirty="0">
                <a:solidFill>
                  <a:srgbClr val="FFFFFF"/>
                </a:solidFill>
              </a:rPr>
              <a:t>Hands on – Module 4</a:t>
            </a:r>
          </a:p>
          <a:p>
            <a:endParaRPr lang="en-US" sz="3600" dirty="0">
              <a:solidFill>
                <a:srgbClr val="FFFFFF"/>
              </a:solidFill>
            </a:endParaRPr>
          </a:p>
          <a:p>
            <a:endParaRPr lang="en-US" sz="3600" dirty="0">
              <a:solidFill>
                <a:srgbClr val="FFFFFF"/>
              </a:solidFill>
            </a:endParaRPr>
          </a:p>
          <a:p>
            <a:r>
              <a:rPr lang="en-US" sz="2400" dirty="0">
                <a:solidFill>
                  <a:srgbClr val="FFFFFF"/>
                </a:solidFill>
              </a:rPr>
              <a:t>GEOSPATIAL application with VLM </a:t>
            </a:r>
          </a:p>
        </p:txBody>
      </p:sp>
    </p:spTree>
    <p:extLst>
      <p:ext uri="{BB962C8B-B14F-4D97-AF65-F5344CB8AC3E}">
        <p14:creationId xmlns:p14="http://schemas.microsoft.com/office/powerpoint/2010/main" val="2730886094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65D67-56B9-4DBB-5270-4A51BFCDA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>
            <a:normAutofit/>
          </a:bodyPr>
          <a:lstStyle/>
          <a:p>
            <a:r>
              <a:rPr lang="en-US" dirty="0"/>
              <a:t>opportunities</a:t>
            </a:r>
            <a:br>
              <a:rPr lang="en-US" dirty="0"/>
            </a:br>
            <a:endParaRPr lang="en-US" dirty="0"/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B0A99276-CD22-5991-4B69-10020DC7966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IN" sz="1800" b="1" dirty="0"/>
              <a:t>Multimodal fusion :</a:t>
            </a:r>
            <a:r>
              <a:rPr lang="en-IN" sz="1800" dirty="0"/>
              <a:t> Combining optical, SAR, LiDAR, DEM, weather and ground observations</a:t>
            </a:r>
          </a:p>
          <a:p>
            <a:pPr marL="0" indent="0">
              <a:lnSpc>
                <a:spcPct val="130000"/>
              </a:lnSpc>
              <a:spcAft>
                <a:spcPts val="600"/>
              </a:spcAft>
              <a:buNone/>
            </a:pPr>
            <a:endParaRPr lang="en-IN" sz="1800" dirty="0"/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IN" sz="1800" b="1" dirty="0"/>
              <a:t>Domain specific ground truth</a:t>
            </a:r>
            <a:r>
              <a:rPr lang="en-IN" sz="1800" dirty="0"/>
              <a:t>: Learning with labels on the ground, drones, </a:t>
            </a:r>
            <a:r>
              <a:rPr lang="en-IN" sz="1800" dirty="0" err="1"/>
              <a:t>ioT</a:t>
            </a:r>
            <a:r>
              <a:rPr lang="en-IN" sz="1800" dirty="0"/>
              <a:t> devices, sensors 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endParaRPr lang="en-IN" sz="1800" dirty="0"/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IN" sz="1800" b="1" dirty="0"/>
              <a:t>Synthetic &amp; simulated EO data</a:t>
            </a:r>
            <a:r>
              <a:rPr lang="en-IN" sz="1800" dirty="0"/>
              <a:t> : Creating training data for rare events such as disasters and extreme hazards</a:t>
            </a:r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7D930E-9FE8-F230-9BDF-13B152862EB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67B645E-C5E5-4727-B977-D372A0AA71D9}" type="slidenum">
              <a:rPr lang="en-US" smtClean="0"/>
              <a:pPr>
                <a:spcAft>
                  <a:spcPts val="600"/>
                </a:spcAft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9982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you!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Props1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487</TotalTime>
  <Words>879</Words>
  <Application>Microsoft Office PowerPoint</Application>
  <PresentationFormat>Widescreen</PresentationFormat>
  <Paragraphs>183</Paragraphs>
  <Slides>23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Aptos Light</vt:lpstr>
      <vt:lpstr>Arial</vt:lpstr>
      <vt:lpstr>Calibri</vt:lpstr>
      <vt:lpstr>Custom</vt:lpstr>
      <vt:lpstr>AI for Space:   From pixels to intelligence  </vt:lpstr>
      <vt:lpstr>Agenda</vt:lpstr>
      <vt:lpstr>Introduction – Satellite data </vt:lpstr>
      <vt:lpstr>Satellite data – sources  </vt:lpstr>
      <vt:lpstr>Satellite IMAGE – What is different?   </vt:lpstr>
      <vt:lpstr>Understanding resolution  </vt:lpstr>
      <vt:lpstr>EARTH OBSERVATION APPLICATIONS </vt:lpstr>
      <vt:lpstr>PowerPoint Presentation</vt:lpstr>
      <vt:lpstr>Geospatial libraries  </vt:lpstr>
      <vt:lpstr>Data download  </vt:lpstr>
      <vt:lpstr>PowerPoint Presentation</vt:lpstr>
      <vt:lpstr>Data manipulation   </vt:lpstr>
      <vt:lpstr>CREATING FEATURES  </vt:lpstr>
      <vt:lpstr>downscaling  </vt:lpstr>
      <vt:lpstr>Applications  </vt:lpstr>
      <vt:lpstr>PowerPoint Presentation</vt:lpstr>
      <vt:lpstr>Geoai EMBEDDINGS  </vt:lpstr>
      <vt:lpstr>Geoai foundation models </vt:lpstr>
      <vt:lpstr>USING EMBEDDINGS  </vt:lpstr>
      <vt:lpstr>Downstream applications  </vt:lpstr>
      <vt:lpstr>PowerPoint Presentation</vt:lpstr>
      <vt:lpstr>opportunities 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Suguna Jayaraj</dc:creator>
  <cp:lastModifiedBy>Suguna Jayaraj</cp:lastModifiedBy>
  <cp:revision>3</cp:revision>
  <dcterms:created xsi:type="dcterms:W3CDTF">2026-10-04T02:41:34Z</dcterms:created>
  <dcterms:modified xsi:type="dcterms:W3CDTF">2026-10-05T08:42:28Z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